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88825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1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98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" name="Google Shape;92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6" name="Google Shape;116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3" name="Google Shape;133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0a97489a0_0_4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8" name="Google Shape;158;g3e0a97489a0_0_4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7" name="Google Shape;167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5" name="Google Shape;195;p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e0a97489a0_0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3" name="Google Shape;213;g3e0a97489a0_0_3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2" name="Google Shape;222;p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3" name="Google Shape;243;p8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9" name="Google Shape;269;p9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e0a97489a0_0_2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7" name="Google Shape;287;g3e0a97489a0_0_2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e0a97489a0_0_6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5" name="Google Shape;295;g3e0a97489a0_0_69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5" name="Google Shape;305;p10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 panose="020B060402020202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 panose="020B060402020202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17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17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 panose="020B0604020202020204"/>
              <a:buNone/>
              <a:defRPr sz="4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hyperlink" Target="https://pocket-kit.cc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hyperlink" Target="https://platform.claude.com/settings/billing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jeff-bae-ai-db-mcp-juevzgw1jk.app.codeanywhere.com/?folder=/workspaces/ai-db-mcp&#13;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1522730" y="1234440"/>
            <a:ext cx="9144000" cy="15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 b="1" i="0" u="none" strike="noStrike" cap="none">
                <a:solidFill>
                  <a:srgbClr val="E94F37"/>
                </a:solidFill>
                <a:latin typeface="맑은 고딕" panose="020B0503020000020004" charset="-127"/>
                <a:ea typeface="맑은 고딕" panose="020B0503020000020004" charset="-127"/>
                <a:cs typeface="맑은 고딕" panose="020B0503020000020004" charset="-127"/>
                <a:sym typeface="맑은 고딕" panose="020B0503020000020004" charset="-127"/>
              </a:rPr>
              <a:t>지극히 사적인</a:t>
            </a:r>
            <a:endParaRPr sz="4600" b="1" i="0" u="none" strike="noStrike" cap="none">
              <a:solidFill>
                <a:srgbClr val="E94F37"/>
              </a:solidFill>
              <a:latin typeface="맑은 고딕" panose="020B0503020000020004" charset="-127"/>
              <a:ea typeface="맑은 고딕" panose="020B0503020000020004" charset="-127"/>
              <a:cs typeface="맑은 고딕" panose="020B0503020000020004" charset="-127"/>
              <a:sym typeface="맑은 고딕" panose="020B0503020000020004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 b="1">
                <a:solidFill>
                  <a:srgbClr val="E94F37"/>
                </a:solidFill>
                <a:latin typeface="맑은 고딕" panose="020B0503020000020004" charset="-127"/>
                <a:ea typeface="맑은 고딕" panose="020B0503020000020004" charset="-127"/>
                <a:cs typeface="맑은 고딕" panose="020B0503020000020004" charset="-127"/>
                <a:sym typeface="맑은 고딕" panose="020B0503020000020004" charset="-127"/>
              </a:rPr>
              <a:t>Jeff</a:t>
            </a:r>
            <a:r>
              <a:rPr lang="en-US" sz="4600" b="1" i="0" u="none" strike="noStrike" cap="none">
                <a:solidFill>
                  <a:srgbClr val="E94F37"/>
                </a:solidFill>
                <a:latin typeface="맑은 고딕" panose="020B0503020000020004" charset="-127"/>
                <a:ea typeface="맑은 고딕" panose="020B0503020000020004" charset="-127"/>
                <a:cs typeface="맑은 고딕" panose="020B0503020000020004" charset="-127"/>
                <a:sym typeface="맑은 고딕" panose="020B0503020000020004" charset="-127"/>
              </a:rPr>
              <a:t>↔Interaction</a:t>
            </a:r>
            <a:r>
              <a:rPr lang="en-US" sz="4600" b="1">
                <a:solidFill>
                  <a:srgbClr val="E94F37"/>
                </a:solidFill>
                <a:latin typeface="맑은 고딕" panose="020B0503020000020004" charset="-127"/>
                <a:ea typeface="맑은 고딕" panose="020B0503020000020004" charset="-127"/>
                <a:cs typeface="맑은 고딕" panose="020B0503020000020004" charset="-127"/>
                <a:sym typeface="맑은 고딕" panose="020B0503020000020004" charset="-127"/>
              </a:rPr>
              <a:t>↔</a:t>
            </a:r>
            <a:r>
              <a:rPr lang="en-US" sz="4600" b="1">
                <a:solidFill>
                  <a:srgbClr val="E94F37"/>
                </a:solidFill>
                <a:latin typeface="맑은 고딕" panose="020B0503020000020004" charset="-127"/>
                <a:ea typeface="맑은 고딕" panose="020B0503020000020004" charset="-127"/>
                <a:cs typeface="맑은 고딕" panose="020B0503020000020004" charset="-127"/>
                <a:sym typeface="맑은 고딕" panose="020B0503020000020004" charset="-127"/>
              </a:rPr>
              <a:t>AI</a:t>
            </a:r>
            <a:endParaRPr sz="4600" b="1" i="0" u="none" strike="noStrike" cap="none">
              <a:solidFill>
                <a:srgbClr val="E94F37"/>
              </a:solidFill>
              <a:latin typeface="맑은 고딕" panose="020B0503020000020004" charset="-127"/>
              <a:ea typeface="맑은 고딕" panose="020B0503020000020004" charset="-127"/>
              <a:cs typeface="맑은 고딕" panose="020B0503020000020004" charset="-127"/>
              <a:sym typeface="맑은 고딕" panose="020B0503020000020004" charset="-127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4114800" y="3520440"/>
            <a:ext cx="3931920" cy="36576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3703320"/>
            <a:ext cx="10332720" cy="3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pocket-kit  ·  MCP(Model Context Protocol)</a:t>
            </a:r>
            <a:endParaRPr sz="18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914400" y="443484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FFD16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Presenter : Jeff</a:t>
            </a:r>
            <a:endParaRPr sz="1600" b="0" i="0" u="none" strike="noStrike" cap="none">
              <a:solidFill>
                <a:srgbClr val="FFD1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548872" y="649224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</a:t>
            </a:r>
            <a:endParaRPr sz="12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548640" y="36576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목차</a:t>
            </a:r>
            <a:endParaRPr sz="28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548640" y="1051560"/>
            <a:ext cx="64008" cy="402336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8" name="Google Shape;98;p2"/>
          <p:cNvSpPr/>
          <p:nvPr/>
        </p:nvSpPr>
        <p:spPr>
          <a:xfrm>
            <a:off x="777240" y="1005840"/>
            <a:ext cx="10058400" cy="86868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914400" y="1056640"/>
            <a:ext cx="594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01</a:t>
            </a:r>
            <a:endParaRPr sz="22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600200" y="103124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Intro</a:t>
            </a:r>
            <a:endParaRPr sz="19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4206240" y="1082040"/>
            <a:ext cx="6400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Jeff는 요즘 무엇</a:t>
            </a:r>
            <a:r>
              <a:rPr lang="en-US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을 삽질하고</a:t>
            </a: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있</a:t>
            </a:r>
            <a:r>
              <a:rPr lang="en-US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었</a:t>
            </a: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는가? </a:t>
            </a:r>
            <a:r>
              <a:rPr lang="en-US" sz="1200" b="0" i="0" u="none" strike="noStrike" cap="none">
                <a:solidFill>
                  <a:srgbClr val="99999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( </a:t>
            </a:r>
            <a:r>
              <a:rPr lang="en-US" sz="1200">
                <a:solidFill>
                  <a:srgbClr val="99999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물론 주어진 업무 외의 시간에.. )</a:t>
            </a:r>
            <a:endParaRPr sz="1200" b="0" i="0" u="none" strike="noStrike" cap="none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777240" y="2057400"/>
            <a:ext cx="10058400" cy="86868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914400" y="2108200"/>
            <a:ext cx="594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02</a:t>
            </a:r>
            <a:endParaRPr sz="22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1600200" y="2082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Case Study</a:t>
            </a:r>
            <a:endParaRPr sz="19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4206240" y="2133600"/>
            <a:ext cx="6400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컴팩트한 UI/UX </a:t>
            </a: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에 반해 시작된 프로젝트, pocket-kit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777240" y="3108960"/>
            <a:ext cx="10058400" cy="86868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914400" y="3159760"/>
            <a:ext cx="594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03</a:t>
            </a:r>
            <a:endParaRPr sz="22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1600200" y="31343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Tech Trend</a:t>
            </a:r>
            <a:endParaRPr sz="19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4206240" y="318516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AI 시대의 새로운 표준, MCP란 무엇인가?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777240" y="4160520"/>
            <a:ext cx="10058400" cy="86868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914400" y="4211320"/>
            <a:ext cx="594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04</a:t>
            </a:r>
            <a:endParaRPr sz="22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1600200" y="418592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Vision</a:t>
            </a:r>
            <a:endParaRPr sz="19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4206240" y="423672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MCP와 AI가 만나면 가능한 일들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11548872" y="649224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</a:t>
            </a:r>
            <a:endParaRPr sz="12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0" name="Google Shape;120;p3"/>
          <p:cNvSpPr txBox="1"/>
          <p:nvPr/>
        </p:nvSpPr>
        <p:spPr>
          <a:xfrm>
            <a:off x="548640" y="32004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01  |  Intro</a:t>
            </a:r>
            <a:endParaRPr sz="1300" b="0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548640" y="777240"/>
            <a:ext cx="9144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내용</a:t>
            </a:r>
            <a:endParaRPr sz="32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48640" y="1691640"/>
            <a:ext cx="10789920" cy="237744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48640" y="1691640"/>
            <a:ext cx="91440" cy="237744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914400" y="1828800"/>
            <a:ext cx="10058400" cy="19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요즘</a:t>
            </a:r>
            <a: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제가 어떤 기술들에 관심을 두고 "삽질" 혹은 "연구"를 하고 있던</a:t>
            </a:r>
            <a:r>
              <a:rPr lang="en-US" sz="17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이야기 해보려 합니다.</a:t>
            </a:r>
            <a:b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b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 </a:t>
            </a:r>
            <a:r>
              <a:rPr lang="en-US" sz="17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Pocketbase 대시보드 UI/UX 를 모티브로 한 순 HTML + CSS + JAVASCRIPT 컴퍼넌트 라이브러리</a:t>
            </a:r>
            <a:endParaRPr sz="17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 </a:t>
            </a:r>
            <a:r>
              <a:rPr lang="en-US" sz="1500">
                <a:solidFill>
                  <a:srgbClr val="B7B7B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Pocketbase 란? </a:t>
            </a:r>
            <a:r>
              <a:rPr lang="en-US" sz="1500">
                <a:solidFill>
                  <a:srgbClr val="B7B7B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postgresql 기반의 원격 Database 서비스</a:t>
            </a:r>
            <a:endParaRPr sz="1500">
              <a:solidFill>
                <a:srgbClr val="B7B7B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700" b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 AI 생태계를 뒤흔들고 있는 MCP</a:t>
            </a:r>
            <a:r>
              <a:rPr lang="en-US" sz="17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endParaRPr sz="17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</a:t>
            </a:r>
            <a:r>
              <a:rPr lang="en-US">
                <a:solidFill>
                  <a:srgbClr val="CCCCC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 란 MPC + AI 의 효과</a:t>
            </a:r>
            <a:endParaRPr>
              <a:solidFill>
                <a:srgbClr val="CCCCC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1371600" y="4297680"/>
            <a:ext cx="4206240" cy="146304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1554480" y="4434840"/>
            <a:ext cx="3840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🛠  pocket-kit</a:t>
            </a:r>
            <a:endParaRPr sz="20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1554480" y="493776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오픈소스 UI 라이브러리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6400800" y="4297680"/>
            <a:ext cx="4206240" cy="146304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6583680" y="443484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🤖  MCP</a:t>
            </a:r>
            <a:endParaRPr sz="20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6583680" y="493776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Model Context Protocol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11548872" y="649224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4</a:t>
            </a:r>
            <a:endParaRPr sz="12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7" name="Google Shape;137;p4"/>
          <p:cNvSpPr txBox="1"/>
          <p:nvPr/>
        </p:nvSpPr>
        <p:spPr>
          <a:xfrm>
            <a:off x="548640" y="32004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02  |  Case Study</a:t>
            </a:r>
            <a:endParaRPr sz="1300" b="0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548640" y="73152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pocket-kit.cc</a:t>
            </a:r>
            <a:endParaRPr sz="34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9" name="Google Shape;139;p4"/>
          <p:cNvSpPr txBox="1"/>
          <p:nvPr/>
        </p:nvSpPr>
        <p:spPr>
          <a:xfrm>
            <a:off x="548640" y="1325880"/>
            <a:ext cx="914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PocketBase의 감성을 </a:t>
            </a:r>
            <a:r>
              <a:rPr lang="en-US" sz="18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그대로 초 경량화 된 순수 HTML+JS+CSS </a:t>
            </a:r>
            <a:r>
              <a:rPr lang="en-US" sz="18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오픈소스 </a:t>
            </a:r>
            <a:r>
              <a:rPr lang="en-US" sz="18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라이브러리</a:t>
            </a:r>
            <a:endParaRPr sz="18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411480" y="2011680"/>
            <a:ext cx="2651760" cy="3749039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411480" y="2011680"/>
            <a:ext cx="2651760" cy="41148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502920" y="2029968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배경</a:t>
            </a:r>
            <a:endParaRPr sz="1500" b="1" i="0" u="none" strike="noStrike" cap="none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3" name="Google Shape;143;p4"/>
          <p:cNvSpPr txBox="1"/>
          <p:nvPr/>
        </p:nvSpPr>
        <p:spPr>
          <a:xfrm>
            <a:off x="521208" y="2560320"/>
            <a:ext cx="24231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PocketBase의 정갈하고 직관적인</a:t>
            </a: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UI/UX에 매료</a:t>
            </a: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됨</a:t>
            </a: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.</a:t>
            </a:r>
            <a:endParaRPr sz="15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그러나 이 UI는 svelte 로 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제작 되엇고 명확한 디자인 가이드라인이 없다.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3291840" y="2011680"/>
            <a:ext cx="2651760" cy="3749039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3291840" y="2011680"/>
            <a:ext cx="2651760" cy="411480"/>
          </a:xfrm>
          <a:prstGeom prst="rect">
            <a:avLst/>
          </a:prstGeom>
          <a:solidFill>
            <a:srgbClr val="FFD16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3383280" y="2029968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동기</a:t>
            </a:r>
            <a:endParaRPr sz="1500" b="1" i="0" u="none" strike="noStrike" cap="none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7" name="Google Shape;147;p4"/>
          <p:cNvSpPr txBox="1"/>
          <p:nvPr/>
        </p:nvSpPr>
        <p:spPr>
          <a:xfrm>
            <a:off x="3401568" y="2560320"/>
            <a:ext cx="24231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이 예쁜 </a:t>
            </a: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쁘고 가벼운 </a:t>
            </a: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UI를 내 프로젝트에도</a:t>
            </a: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쉽게 쓰고 싶다는 생각</a:t>
            </a: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이 든다.</a:t>
            </a:r>
            <a:endParaRPr sz="15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6172200" y="2011680"/>
            <a:ext cx="2651760" cy="3749039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6172200" y="2011680"/>
            <a:ext cx="2651760" cy="411480"/>
          </a:xfrm>
          <a:prstGeom prst="rect">
            <a:avLst/>
          </a:prstGeom>
          <a:solidFill>
            <a:srgbClr val="4CAF5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6263640" y="2029968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실행</a:t>
            </a:r>
            <a:endParaRPr sz="1500" b="1" i="0" u="none" strike="noStrike" cap="none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1" name="Google Shape;151;p4"/>
          <p:cNvSpPr txBox="1"/>
          <p:nvPr/>
        </p:nvSpPr>
        <p:spPr>
          <a:xfrm>
            <a:off x="6281928" y="2560320"/>
            <a:ext cx="2423100" cy="24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UI 컴포넌트 정리 →</a:t>
            </a:r>
            <a:endParaRPr sz="15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각 사의 AI 툴들을 동원해서 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해당 페이지를 크롤링 해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보았지만 .결과가 …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결국 전통적이고 폭력적인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[Ctrl + S]  + ai 툴  로 복구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b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MIT 라이선스로 GitHub 배포</a:t>
            </a:r>
            <a:endParaRPr sz="15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9052560" y="2011680"/>
            <a:ext cx="2651760" cy="3749039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9052560" y="2011680"/>
            <a:ext cx="2651760" cy="411480"/>
          </a:xfrm>
          <a:prstGeom prst="rect">
            <a:avLst/>
          </a:prstGeom>
          <a:solidFill>
            <a:srgbClr val="5C6BC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4" name="Google Shape;154;p4"/>
          <p:cNvSpPr txBox="1"/>
          <p:nvPr/>
        </p:nvSpPr>
        <p:spPr>
          <a:xfrm>
            <a:off x="9144000" y="2029968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결과</a:t>
            </a:r>
            <a:endParaRPr sz="1500" b="1" i="0" u="none" strike="noStrike" cap="none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5" name="Google Shape;155;p4"/>
          <p:cNvSpPr txBox="1"/>
          <p:nvPr/>
        </p:nvSpPr>
        <p:spPr>
          <a:xfrm>
            <a:off x="9162288" y="2560320"/>
            <a:ext cx="2423100" cy="28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가장 기본적인 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HTML + JS + CSS 로 되 라이브러리로 정리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프로젝트에 들어가는 도구들 모두 오픈소스 기반임을 확인하고 출처 공개후 </a:t>
            </a:r>
            <a:r>
              <a:rPr lang="en-US" sz="150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배포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복잡한 설정 없이 </a:t>
            </a:r>
            <a:r>
              <a:rPr lang="en-US" sz="150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바로 사용 가능</a:t>
            </a: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0a97489a0_0_41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1" name="Google Shape;161;g3e0a97489a0_0_41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5</a:t>
            </a:r>
            <a:endParaRPr sz="12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2" name="Google Shape;162;g3e0a97489a0_0_41"/>
          <p:cNvSpPr txBox="1"/>
          <p:nvPr/>
        </p:nvSpPr>
        <p:spPr>
          <a:xfrm>
            <a:off x="548640" y="320040"/>
            <a:ext cx="45720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02  |  Case Study</a:t>
            </a:r>
            <a:endParaRPr sz="1300" b="0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3" name="Google Shape;163;g3e0a97489a0_0_41"/>
          <p:cNvSpPr/>
          <p:nvPr/>
        </p:nvSpPr>
        <p:spPr>
          <a:xfrm>
            <a:off x="548650" y="766600"/>
            <a:ext cx="11000100" cy="725100"/>
          </a:xfrm>
          <a:prstGeom prst="rect">
            <a:avLst/>
          </a:prstGeom>
          <a:solidFill>
            <a:srgbClr val="43434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highlight>
                  <a:srgbClr val="434343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가장 많이 사용 되고 있는 컴퍼넌트들 만 사용 하여 부피를 최소한으로 하여 프로젝트에 불필요한 full 패키지 import 를 줄임.</a:t>
            </a:r>
            <a:endParaRPr>
              <a:solidFill>
                <a:schemeClr val="lt1"/>
              </a:solidFill>
              <a:highlight>
                <a:srgbClr val="434343"/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>
                <a:solidFill>
                  <a:srgbClr val="C8CCD6"/>
                </a:solidFill>
                <a:highlight>
                  <a:srgbClr val="434343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"/>
              </a:rPr>
              <a:t>https://</a:t>
            </a:r>
            <a:r>
              <a:rPr lang="en-US" u="sng">
                <a:solidFill>
                  <a:srgbClr val="C8CCD6"/>
                </a:solidFill>
                <a:highlight>
                  <a:srgbClr val="434343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"/>
              </a:rPr>
              <a:t>pocket-kit.cc</a:t>
            </a:r>
            <a:r>
              <a:rPr lang="en-US">
                <a:solidFill>
                  <a:srgbClr val="C8CCD6"/>
                </a:solidFill>
                <a:highlight>
                  <a:srgbClr val="434343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endParaRPr>
              <a:solidFill>
                <a:srgbClr val="C8CCD6"/>
              </a:solidFill>
              <a:highlight>
                <a:srgbClr val="434343"/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64" name="Google Shape;164;g3e0a97489a0_0_41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48650" y="1645750"/>
            <a:ext cx="11000100" cy="478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6</a:t>
            </a:r>
            <a:endParaRPr sz="12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548640" y="32004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03  |  Tech Trend</a:t>
            </a:r>
            <a:endParaRPr sz="1300" b="0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548640" y="73152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MCP란 무엇인가?</a:t>
            </a:r>
            <a:endParaRPr sz="34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Model Context Protocol  —  AI와 외부 세상을 잇는 표준 규격</a:t>
            </a:r>
            <a:endParaRPr sz="17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4" name="Google Shape;174;p5"/>
          <p:cNvSpPr/>
          <p:nvPr/>
        </p:nvSpPr>
        <p:spPr>
          <a:xfrm>
            <a:off x="548640" y="1920240"/>
            <a:ext cx="3474720" cy="320040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548640" y="2286000"/>
            <a:ext cx="3474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AI 모델</a:t>
            </a:r>
            <a:br>
              <a:rPr lang="en-US" sz="22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22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(두뇌)</a:t>
            </a:r>
            <a:endParaRPr sz="22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6" name="Google Shape;176;p5"/>
          <p:cNvSpPr txBox="1"/>
          <p:nvPr/>
        </p:nvSpPr>
        <p:spPr>
          <a:xfrm>
            <a:off x="548640" y="3017520"/>
            <a:ext cx="3474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질문을 이해하고</a:t>
            </a:r>
            <a:b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판단을 내립니다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4297680" y="1920240"/>
            <a:ext cx="457200" cy="32004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8" name="Google Shape;178;p5"/>
          <p:cNvSpPr txBox="1"/>
          <p:nvPr/>
        </p:nvSpPr>
        <p:spPr>
          <a:xfrm>
            <a:off x="4283029" y="2834650"/>
            <a:ext cx="4572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</a:t>
            </a:r>
            <a:b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신</a:t>
            </a:r>
            <a:endParaRPr sz="11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경</a:t>
            </a:r>
            <a:endParaRPr sz="11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망</a:t>
            </a:r>
            <a:endParaRPr sz="11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9" name="Google Shape;179;p5"/>
          <p:cNvSpPr/>
          <p:nvPr/>
        </p:nvSpPr>
        <p:spPr>
          <a:xfrm>
            <a:off x="4937760" y="1920240"/>
            <a:ext cx="2377440" cy="685800"/>
          </a:xfrm>
          <a:prstGeom prst="rect">
            <a:avLst/>
          </a:prstGeom>
          <a:solidFill>
            <a:srgbClr val="24292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0" name="Google Shape;180;p5"/>
          <p:cNvSpPr txBox="1"/>
          <p:nvPr/>
        </p:nvSpPr>
        <p:spPr>
          <a:xfrm>
            <a:off x="5029200" y="19837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GitHub 팔</a:t>
            </a:r>
            <a:endParaRPr sz="14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4937760" y="2743200"/>
            <a:ext cx="2377440" cy="685800"/>
          </a:xfrm>
          <a:prstGeom prst="rect">
            <a:avLst/>
          </a:prstGeom>
          <a:solidFill>
            <a:srgbClr val="4A154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2" name="Google Shape;182;p5"/>
          <p:cNvSpPr txBox="1"/>
          <p:nvPr/>
        </p:nvSpPr>
        <p:spPr>
          <a:xfrm>
            <a:off x="5029200" y="280670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Slack 팔</a:t>
            </a:r>
            <a:endParaRPr sz="14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4937760" y="3566160"/>
            <a:ext cx="2377440" cy="685800"/>
          </a:xfrm>
          <a:prstGeom prst="rect">
            <a:avLst/>
          </a:prstGeom>
          <a:solidFill>
            <a:srgbClr val="1B4F7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4" name="Google Shape;184;p5"/>
          <p:cNvSpPr txBox="1"/>
          <p:nvPr/>
        </p:nvSpPr>
        <p:spPr>
          <a:xfrm>
            <a:off x="5029200" y="36296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DB 팔</a:t>
            </a:r>
            <a:endParaRPr sz="14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5" name="Google Shape;185;p5"/>
          <p:cNvSpPr/>
          <p:nvPr/>
        </p:nvSpPr>
        <p:spPr>
          <a:xfrm>
            <a:off x="4937760" y="4389120"/>
            <a:ext cx="2377440" cy="685800"/>
          </a:xfrm>
          <a:prstGeom prst="rect">
            <a:avLst/>
          </a:prstGeom>
          <a:solidFill>
            <a:srgbClr val="1E4D2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6" name="Google Shape;186;p5"/>
          <p:cNvSpPr txBox="1"/>
          <p:nvPr/>
        </p:nvSpPr>
        <p:spPr>
          <a:xfrm>
            <a:off x="5029200" y="44526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파일 팔</a:t>
            </a:r>
            <a:endParaRPr sz="14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7498079" y="1920240"/>
            <a:ext cx="4480560" cy="320040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8" name="Google Shape;188;p5"/>
          <p:cNvSpPr txBox="1"/>
          <p:nvPr/>
        </p:nvSpPr>
        <p:spPr>
          <a:xfrm>
            <a:off x="7498079" y="2286000"/>
            <a:ext cx="44805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외부 세상</a:t>
            </a:r>
            <a:endParaRPr sz="2000" b="1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9" name="Google Shape;189;p5"/>
          <p:cNvSpPr txBox="1"/>
          <p:nvPr/>
        </p:nvSpPr>
        <p:spPr>
          <a:xfrm>
            <a:off x="7772400" y="2834640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✦  문서 / 데이터베이스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0" name="Google Shape;190;p5"/>
          <p:cNvSpPr txBox="1"/>
          <p:nvPr/>
        </p:nvSpPr>
        <p:spPr>
          <a:xfrm>
            <a:off x="7772400" y="3337560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✦  웹사이트 / API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1" name="Google Shape;191;p5"/>
          <p:cNvSpPr txBox="1"/>
          <p:nvPr/>
        </p:nvSpPr>
        <p:spPr>
          <a:xfrm>
            <a:off x="7772400" y="3840480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✦  로컬 파일 시스템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2" name="Google Shape;192;p5"/>
          <p:cNvSpPr txBox="1"/>
          <p:nvPr/>
        </p:nvSpPr>
        <p:spPr>
          <a:xfrm>
            <a:off x="7772400" y="4343400"/>
            <a:ext cx="39319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✦  메시지 · 이메일</a:t>
            </a:r>
            <a:endParaRPr sz="14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8" name="Google Shape;198;p6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</a:t>
            </a:r>
            <a:endParaRPr sz="1200" b="0" i="0" u="none" strike="noStrike" cap="none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9" name="Google Shape;199;p6"/>
          <p:cNvSpPr txBox="1"/>
          <p:nvPr/>
        </p:nvSpPr>
        <p:spPr>
          <a:xfrm>
            <a:off x="548640" y="32004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03  |  Tech Trend</a:t>
            </a:r>
            <a:endParaRPr sz="1300" b="0" i="0" u="none" strike="noStrike" cap="none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0" name="Google Shape;200;p6"/>
          <p:cNvSpPr txBox="1"/>
          <p:nvPr/>
        </p:nvSpPr>
        <p:spPr>
          <a:xfrm>
            <a:off x="548640" y="73152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전통적 AI  vs  MCP 기반 AI</a:t>
            </a:r>
            <a:endParaRPr sz="32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1" name="Google Shape;201;p6"/>
          <p:cNvSpPr/>
          <p:nvPr/>
        </p:nvSpPr>
        <p:spPr>
          <a:xfrm>
            <a:off x="365760" y="1600200"/>
            <a:ext cx="5394960" cy="484632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365760" y="1600200"/>
            <a:ext cx="5394960" cy="502920"/>
          </a:xfrm>
          <a:prstGeom prst="rect">
            <a:avLst/>
          </a:prstGeom>
          <a:solidFill>
            <a:srgbClr val="78909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3" name="Google Shape;203;p6"/>
          <p:cNvSpPr txBox="1"/>
          <p:nvPr/>
        </p:nvSpPr>
        <p:spPr>
          <a:xfrm>
            <a:off x="457200" y="1627632"/>
            <a:ext cx="52120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AS-IS  |  전통적 AI</a:t>
            </a:r>
            <a:endParaRPr sz="17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4" name="Google Shape;204;p6"/>
          <p:cNvSpPr txBox="1"/>
          <p:nvPr/>
        </p:nvSpPr>
        <p:spPr>
          <a:xfrm>
            <a:off x="548640" y="2240280"/>
            <a:ext cx="502920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기관: 귀(Input) + 입(Output)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「입과 귀만 있는 상담사」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사용자가 정보를 직접 복사·붙여넣기해야 함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AI는 눈이 없어서 외부 데이터를 못 봄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손이 없어서 직접 행동 불가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 수동적 지능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(말만 잘하는 가두리 양식장 속 천재)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5" name="Google Shape;205;p6"/>
          <p:cNvSpPr/>
          <p:nvPr/>
        </p:nvSpPr>
        <p:spPr>
          <a:xfrm>
            <a:off x="6035040" y="1600200"/>
            <a:ext cx="5806440" cy="484632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6" name="Google Shape;206;p6"/>
          <p:cNvSpPr/>
          <p:nvPr/>
        </p:nvSpPr>
        <p:spPr>
          <a:xfrm>
            <a:off x="6035040" y="1600200"/>
            <a:ext cx="5806440" cy="50292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7" name="Google Shape;207;p6"/>
          <p:cNvSpPr txBox="1"/>
          <p:nvPr/>
        </p:nvSpPr>
        <p:spPr>
          <a:xfrm>
            <a:off x="6126480" y="1627632"/>
            <a:ext cx="557784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TO-BE  |  MCP 기반 AI</a:t>
            </a:r>
            <a:endParaRPr sz="17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8" name="Google Shape;208;p6"/>
          <p:cNvSpPr txBox="1"/>
          <p:nvPr/>
        </p:nvSpPr>
        <p:spPr>
          <a:xfrm>
            <a:off x="6217920" y="2240280"/>
            <a:ext cx="539496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기관: 귀/입 + 눈(Context) + 손(Action)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「감각과 팔이 달린 행동대장」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눈(Data Retrieval): 문서·DB·웹을 직접 봄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손(Tool Use): 코드 수정, 파일 생성, 메시지 발송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팔을 문어발처럼 여러 개 장착 가능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(GitHub 팔 / Slack 팔 / DB 팔 …)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 능동적 지능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(도구를 자유자재로 다루는 만능 기술자)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5486400" y="3383280"/>
            <a:ext cx="548640" cy="54864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0" name="Google Shape;210;p6"/>
          <p:cNvSpPr txBox="1"/>
          <p:nvPr/>
        </p:nvSpPr>
        <p:spPr>
          <a:xfrm>
            <a:off x="5486400" y="3478754"/>
            <a:ext cx="5487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VS</a:t>
            </a:r>
            <a:endParaRPr sz="17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e0a97489a0_0_3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6" name="Google Shape;216;g3e0a97489a0_0_3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8</a:t>
            </a:r>
            <a:endParaRPr sz="12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7" name="Google Shape;217;g3e0a97489a0_0_3"/>
          <p:cNvSpPr txBox="1"/>
          <p:nvPr/>
        </p:nvSpPr>
        <p:spPr>
          <a:xfrm>
            <a:off x="548640" y="320040"/>
            <a:ext cx="731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</a:t>
            </a: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-1  |  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이미지로 보는 AI + MCP</a:t>
            </a:r>
            <a:endParaRPr sz="1300" b="0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18" name="Google Shape;218;g3e0a97489a0_0_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010050" y="705775"/>
            <a:ext cx="10287043" cy="578647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g3e0a97489a0_0_3"/>
          <p:cNvSpPr txBox="1"/>
          <p:nvPr/>
        </p:nvSpPr>
        <p:spPr>
          <a:xfrm>
            <a:off x="5708075" y="4962225"/>
            <a:ext cx="8910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AI</a:t>
            </a:r>
            <a:endParaRPr sz="34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7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5" name="Google Shape;225;p7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</a:t>
            </a:r>
            <a:endParaRPr sz="12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6" name="Google Shape;226;p7"/>
          <p:cNvSpPr txBox="1"/>
          <p:nvPr/>
        </p:nvSpPr>
        <p:spPr>
          <a:xfrm>
            <a:off x="548640" y="32004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04  |  Vision</a:t>
            </a:r>
            <a:endParaRPr sz="1300" b="0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7" name="Google Shape;227;p7"/>
          <p:cNvSpPr txBox="1"/>
          <p:nvPr/>
        </p:nvSpPr>
        <p:spPr>
          <a:xfrm>
            <a:off x="548640" y="73152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AI와 MCP가 만나면 가능한 일들</a:t>
            </a:r>
            <a:endParaRPr sz="32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8" name="Google Shape;228;p7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1">
                <a:solidFill>
                  <a:srgbClr val="FFD16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"단순히 질문에 답하는 AI를 넘어, 행동하는 AI가 됩니다."</a:t>
            </a:r>
            <a:endParaRPr sz="1600" b="0" i="1">
              <a:solidFill>
                <a:srgbClr val="FFD1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9" name="Google Shape;229;p7"/>
          <p:cNvSpPr/>
          <p:nvPr/>
        </p:nvSpPr>
        <p:spPr>
          <a:xfrm>
            <a:off x="411480" y="2011680"/>
            <a:ext cx="3566160" cy="4389120"/>
          </a:xfrm>
          <a:prstGeom prst="rect">
            <a:avLst/>
          </a:prstGeom>
          <a:solidFill>
            <a:srgbClr val="1A377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0" name="Google Shape;230;p7"/>
          <p:cNvSpPr txBox="1"/>
          <p:nvPr/>
        </p:nvSpPr>
        <p:spPr>
          <a:xfrm>
            <a:off x="594360" y="210312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01</a:t>
            </a:r>
            <a:endParaRPr sz="2800" b="1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1" name="Google Shape;231;p7"/>
          <p:cNvSpPr txBox="1"/>
          <p:nvPr/>
        </p:nvSpPr>
        <p:spPr>
          <a:xfrm>
            <a:off x="594360" y="265176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로컬 데이터 직접 분석</a:t>
            </a:r>
            <a:endParaRPr sz="17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2" name="Google Shape;232;p7"/>
          <p:cNvSpPr txBox="1"/>
          <p:nvPr/>
        </p:nvSpPr>
        <p:spPr>
          <a:xfrm>
            <a:off x="594360" y="3246120"/>
            <a:ext cx="329184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AI가 내 컴퓨터의 소스 코드를 읽고</a:t>
            </a:r>
            <a:b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버그를 직접 수정하거나 문서를 작성합니다.</a:t>
            </a:r>
            <a:endParaRPr sz="13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3" name="Google Shape;233;p7"/>
          <p:cNvSpPr/>
          <p:nvPr/>
        </p:nvSpPr>
        <p:spPr>
          <a:xfrm>
            <a:off x="4251960" y="2011680"/>
            <a:ext cx="3566160" cy="4389120"/>
          </a:xfrm>
          <a:prstGeom prst="rect">
            <a:avLst/>
          </a:prstGeom>
          <a:solidFill>
            <a:srgbClr val="4A144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4" name="Google Shape;234;p7"/>
          <p:cNvSpPr txBox="1"/>
          <p:nvPr/>
        </p:nvSpPr>
        <p:spPr>
          <a:xfrm>
            <a:off x="4434840" y="210312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02</a:t>
            </a:r>
            <a:endParaRPr sz="2800" b="1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5" name="Google Shape;235;p7"/>
          <p:cNvSpPr txBox="1"/>
          <p:nvPr/>
        </p:nvSpPr>
        <p:spPr>
          <a:xfrm>
            <a:off x="4434840" y="265176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실시간 데이터 연동</a:t>
            </a:r>
            <a:endParaRPr sz="17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6" name="Google Shape;236;p7"/>
          <p:cNvSpPr txBox="1"/>
          <p:nvPr/>
        </p:nvSpPr>
        <p:spPr>
          <a:xfrm>
            <a:off x="4434840" y="3246120"/>
            <a:ext cx="329184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Google Drive · Slack · GitHub와 직접 연결</a:t>
            </a:r>
            <a:b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"지난주 슬랙 내용 정리해서 깃허브 이슈로 등록해줘"</a:t>
            </a:r>
            <a:endParaRPr sz="13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7" name="Google Shape;237;p7"/>
          <p:cNvSpPr/>
          <p:nvPr/>
        </p:nvSpPr>
        <p:spPr>
          <a:xfrm>
            <a:off x="8092440" y="2011680"/>
            <a:ext cx="3566160" cy="4389120"/>
          </a:xfrm>
          <a:prstGeom prst="rect">
            <a:avLst/>
          </a:prstGeom>
          <a:solidFill>
            <a:srgbClr val="1A4D3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8" name="Google Shape;238;p7"/>
          <p:cNvSpPr txBox="1"/>
          <p:nvPr/>
        </p:nvSpPr>
        <p:spPr>
          <a:xfrm>
            <a:off x="8275320" y="210312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03</a:t>
            </a:r>
            <a:endParaRPr sz="2800" b="1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9" name="Google Shape;239;p7"/>
          <p:cNvSpPr txBox="1"/>
          <p:nvPr/>
        </p:nvSpPr>
        <p:spPr>
          <a:xfrm>
            <a:off x="8275320" y="265176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커스텀 툴 활용</a:t>
            </a:r>
            <a:endParaRPr sz="17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0" name="Google Shape;240;p7"/>
          <p:cNvSpPr txBox="1"/>
          <p:nvPr/>
        </p:nvSpPr>
        <p:spPr>
          <a:xfrm>
            <a:off x="8275320" y="3246120"/>
            <a:ext cx="329184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내가 만든 DB(Redis, SQL)를 AI에게 도구로 쥐여주고</a:t>
            </a:r>
            <a:b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자연어로 데이터를 조회·수정합니다.</a:t>
            </a:r>
            <a:endParaRPr sz="13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8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6" name="Google Shape;246;p8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10</a:t>
            </a:r>
            <a:endParaRPr sz="12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7" name="Google Shape;247;p8"/>
          <p:cNvSpPr txBox="1"/>
          <p:nvPr/>
        </p:nvSpPr>
        <p:spPr>
          <a:xfrm>
            <a:off x="548640" y="32004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04  |  Vision</a:t>
            </a:r>
            <a:endParaRPr sz="1300" b="0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8" name="Google Shape;248;p8"/>
          <p:cNvSpPr txBox="1"/>
          <p:nvPr/>
        </p:nvSpPr>
        <p:spPr>
          <a:xfrm>
            <a:off x="548640" y="73152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우리가 이미 쓰고 있는 AI 툴들도 AI + MCP</a:t>
            </a:r>
            <a:endParaRPr sz="30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411480" y="1828800"/>
            <a:ext cx="2651760" cy="411480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411480" y="1828800"/>
            <a:ext cx="2651760" cy="502920"/>
          </a:xfrm>
          <a:prstGeom prst="rect">
            <a:avLst/>
          </a:prstGeom>
          <a:solidFill>
            <a:srgbClr val="00BFFF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1" name="Google Shape;251;p8"/>
          <p:cNvSpPr txBox="1"/>
          <p:nvPr/>
        </p:nvSpPr>
        <p:spPr>
          <a:xfrm>
            <a:off x="502920" y="184708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Cursor</a:t>
            </a:r>
            <a:endParaRPr sz="1600" b="1" i="0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2" name="Google Shape;252;p8"/>
          <p:cNvSpPr txBox="1"/>
          <p:nvPr/>
        </p:nvSpPr>
        <p:spPr>
          <a:xfrm>
            <a:off x="521208" y="2423160"/>
            <a:ext cx="2423160" cy="310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IDE 통합 AI 코드 에디터</a:t>
            </a:r>
            <a:b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MCP로 코드베이스 직접 조작</a:t>
            </a:r>
            <a:endParaRPr sz="1300" b="0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3291840" y="1828800"/>
            <a:ext cx="2651760" cy="411480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3291840" y="1828800"/>
            <a:ext cx="2651760" cy="50292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5" name="Google Shape;255;p8"/>
          <p:cNvSpPr txBox="1"/>
          <p:nvPr/>
        </p:nvSpPr>
        <p:spPr>
          <a:xfrm>
            <a:off x="3383280" y="184708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Claude</a:t>
            </a:r>
            <a:endParaRPr sz="1600" b="1" i="0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6" name="Google Shape;256;p8"/>
          <p:cNvSpPr txBox="1"/>
          <p:nvPr/>
        </p:nvSpPr>
        <p:spPr>
          <a:xfrm>
            <a:off x="3401568" y="2423160"/>
            <a:ext cx="2423160" cy="310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Anthropic의 AI 어시스턴트</a:t>
            </a:r>
            <a:b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MCP로 파일·DB·API 연결</a:t>
            </a:r>
            <a:endParaRPr sz="1300" b="0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6172200" y="1828800"/>
            <a:ext cx="2651760" cy="411480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8" name="Google Shape;258;p8"/>
          <p:cNvSpPr/>
          <p:nvPr/>
        </p:nvSpPr>
        <p:spPr>
          <a:xfrm>
            <a:off x="6172200" y="1828800"/>
            <a:ext cx="2651760" cy="502920"/>
          </a:xfrm>
          <a:prstGeom prst="rect">
            <a:avLst/>
          </a:prstGeom>
          <a:solidFill>
            <a:srgbClr val="74AA9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9" name="Google Shape;259;p8"/>
          <p:cNvSpPr txBox="1"/>
          <p:nvPr/>
        </p:nvSpPr>
        <p:spPr>
          <a:xfrm>
            <a:off x="6263640" y="184708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ChatGPT</a:t>
            </a:r>
            <a:endParaRPr sz="1600" b="1" i="0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0" name="Google Shape;260;p8"/>
          <p:cNvSpPr txBox="1"/>
          <p:nvPr/>
        </p:nvSpPr>
        <p:spPr>
          <a:xfrm>
            <a:off x="6281928" y="2423160"/>
            <a:ext cx="2423160" cy="310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OpenAI의 AI 챗봇</a:t>
            </a:r>
            <a:b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Plugins / GPTs = MCP 개념</a:t>
            </a:r>
            <a:endParaRPr sz="1300" b="0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9052560" y="1828800"/>
            <a:ext cx="2651760" cy="4114800"/>
          </a:xfrm>
          <a:prstGeom prst="rect">
            <a:avLst/>
          </a:prstGeom>
          <a:solidFill>
            <a:srgbClr val="393E4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2" name="Google Shape;262;p8"/>
          <p:cNvSpPr/>
          <p:nvPr/>
        </p:nvSpPr>
        <p:spPr>
          <a:xfrm>
            <a:off x="9052560" y="1828800"/>
            <a:ext cx="2651760" cy="502920"/>
          </a:xfrm>
          <a:prstGeom prst="rect">
            <a:avLst/>
          </a:prstGeom>
          <a:solidFill>
            <a:srgbClr val="4285F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3" name="Google Shape;263;p8"/>
          <p:cNvSpPr txBox="1"/>
          <p:nvPr/>
        </p:nvSpPr>
        <p:spPr>
          <a:xfrm>
            <a:off x="9144000" y="184708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Gemini</a:t>
            </a:r>
            <a:endParaRPr sz="1600" b="1" i="0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4" name="Google Shape;264;p8"/>
          <p:cNvSpPr txBox="1"/>
          <p:nvPr/>
        </p:nvSpPr>
        <p:spPr>
          <a:xfrm>
            <a:off x="9162288" y="2423160"/>
            <a:ext cx="2423160" cy="310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Google의 AI 어시스턴트</a:t>
            </a:r>
            <a:b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300" b="0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Google 생태계와 MCP 통합</a:t>
            </a:r>
            <a:endParaRPr sz="1300" b="0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5" name="Google Shape;265;p8"/>
          <p:cNvSpPr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6" name="Google Shape;266;p8"/>
          <p:cNvSpPr txBox="1"/>
          <p:nvPr/>
        </p:nvSpPr>
        <p:spPr>
          <a:xfrm>
            <a:off x="731520" y="603504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FFD16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공통점: 모두 'AI 두뇌 + MCP(외부 도구 연결)'의 결합체입니다.</a:t>
            </a:r>
            <a:endParaRPr sz="1600" b="1" i="0">
              <a:solidFill>
                <a:srgbClr val="FFD1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2" name="Google Shape;272;p9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11</a:t>
            </a:r>
            <a:endParaRPr sz="12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3" name="Google Shape;273;p9"/>
          <p:cNvSpPr txBox="1"/>
          <p:nvPr/>
        </p:nvSpPr>
        <p:spPr>
          <a:xfrm>
            <a:off x="548640" y="32004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04  |  Vision  /  실전 사례</a:t>
            </a:r>
            <a:endParaRPr sz="1300" b="0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4" name="Google Shape;274;p9"/>
          <p:cNvSpPr txBox="1"/>
          <p:nvPr/>
        </p:nvSpPr>
        <p:spPr>
          <a:xfrm>
            <a:off x="548640" y="73152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입만 살아있는 AI?  아니, 행동하는 AI!</a:t>
            </a:r>
            <a:endParaRPr sz="30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5" name="Google Shape;275;p9"/>
          <p:cNvSpPr/>
          <p:nvPr/>
        </p:nvSpPr>
        <p:spPr>
          <a:xfrm>
            <a:off x="365760" y="1600200"/>
            <a:ext cx="5394960" cy="457200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6" name="Google Shape;276;p9"/>
          <p:cNvSpPr/>
          <p:nvPr/>
        </p:nvSpPr>
        <p:spPr>
          <a:xfrm>
            <a:off x="365760" y="1600200"/>
            <a:ext cx="5394960" cy="457200"/>
          </a:xfrm>
          <a:prstGeom prst="rect">
            <a:avLst/>
          </a:prstGeom>
          <a:solidFill>
            <a:srgbClr val="78909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7" name="Google Shape;277;p9"/>
          <p:cNvSpPr txBox="1"/>
          <p:nvPr/>
        </p:nvSpPr>
        <p:spPr>
          <a:xfrm>
            <a:off x="457200" y="1627632"/>
            <a:ext cx="52120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전통적 방식 (수동)</a:t>
            </a:r>
            <a:endParaRPr sz="16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8" name="Google Shape;278;p9"/>
          <p:cNvSpPr txBox="1"/>
          <p:nvPr/>
        </p:nvSpPr>
        <p:spPr>
          <a:xfrm>
            <a:off x="548640" y="2194560"/>
            <a:ext cx="50292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 SQLite에서 엑셀로 내보내기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 엑셀 내용을 복사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3. Claude 채팅창에 붙여넣기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4. '분석해줘' 요청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 매번 사람이 직접 데이터를 '귀에 대고 읽어줘야' 함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 대용량 데이터는 사실상 불가능</a:t>
            </a:r>
            <a:endParaRPr sz="1400" b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6126480" y="1600200"/>
            <a:ext cx="5669400" cy="4572000"/>
          </a:xfrm>
          <a:prstGeom prst="rect">
            <a:avLst/>
          </a:prstGeom>
          <a:solidFill>
            <a:srgbClr val="16213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0" name="Google Shape;280;p9"/>
          <p:cNvSpPr/>
          <p:nvPr/>
        </p:nvSpPr>
        <p:spPr>
          <a:xfrm>
            <a:off x="6126480" y="1600200"/>
            <a:ext cx="5669280" cy="4572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1" name="Google Shape;281;p9"/>
          <p:cNvSpPr txBox="1"/>
          <p:nvPr/>
        </p:nvSpPr>
        <p:spPr>
          <a:xfrm>
            <a:off x="6217920" y="1627632"/>
            <a:ext cx="53949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 방식 (자동·지능적)</a:t>
            </a:r>
            <a:endParaRPr sz="16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2" name="Google Shape;282;p9"/>
          <p:cNvSpPr txBox="1"/>
          <p:nvPr/>
        </p:nvSpPr>
        <p:spPr>
          <a:xfrm>
            <a:off x="6309360" y="2194560"/>
            <a:ext cx="530352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눈 (Context): Claude가 SQLite를 직접 '봄'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손 (Action):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"지난달 결제금액 10만원 이상인 사람만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별도 테이블에 저장해줘"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→ Claude가 SQL 쿼리를 직접 작성·실행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 개발자가 DB 툴을 켜지 않아도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AI가 전문 데이터 관리자처럼 행동</a:t>
            </a:r>
            <a:endParaRPr sz="1400" b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3" name="Google Shape;283;p9"/>
          <p:cNvSpPr/>
          <p:nvPr/>
        </p:nvSpPr>
        <p:spPr>
          <a:xfrm>
            <a:off x="5660716" y="3291840"/>
            <a:ext cx="548700" cy="5487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4" name="Google Shape;284;p9"/>
          <p:cNvSpPr txBox="1"/>
          <p:nvPr/>
        </p:nvSpPr>
        <p:spPr>
          <a:xfrm>
            <a:off x="5650357" y="3361926"/>
            <a:ext cx="548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</a:t>
            </a:r>
            <a:endParaRPr sz="2000" b="1" i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e0a97489a0_0_21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0" name="Google Shape;290;g3e0a97489a0_0_21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12</a:t>
            </a:r>
            <a:endParaRPr sz="12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1" name="Google Shape;291;g3e0a97489a0_0_21"/>
          <p:cNvSpPr txBox="1"/>
          <p:nvPr/>
        </p:nvSpPr>
        <p:spPr>
          <a:xfrm>
            <a:off x="548640" y="320040"/>
            <a:ext cx="731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5</a:t>
            </a: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| 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 는 기능?</a:t>
            </a:r>
            <a:endParaRPr sz="1300" b="0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2" name="Google Shape;292;g3e0a97489a0_0_21"/>
          <p:cNvSpPr txBox="1"/>
          <p:nvPr/>
        </p:nvSpPr>
        <p:spPr>
          <a:xfrm>
            <a:off x="663000" y="911625"/>
            <a:ext cx="10805100" cy="548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이쯤에서 많은 분이 "Google Sheets MCP"라고 하면 그 자체가 하나의 독립된 프로그램이라고 생각하기 쉽지만, </a:t>
            </a: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사실</a:t>
            </a:r>
            <a:r>
              <a:rPr lang="en-US" b="1" u="sng">
                <a:solidFill>
                  <a:schemeClr val="lt1"/>
                </a:solidFill>
              </a:rPr>
              <a:t> MCP는 '데이터와 기능을 주고받는 통로의 규격'</a:t>
            </a:r>
            <a:r>
              <a:rPr lang="en-US">
                <a:solidFill>
                  <a:schemeClr val="lt1"/>
                </a:solidFill>
              </a:rPr>
              <a:t>에 가깝습니다.</a:t>
            </a: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600" b="1">
                <a:solidFill>
                  <a:schemeClr val="lt1"/>
                </a:solidFill>
              </a:rPr>
              <a:t>MCP는 '기능'이 아니라 '범용 단자(Connector)'입니다.</a:t>
            </a:r>
            <a:endParaRPr sz="1600" b="1"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>
                <a:solidFill>
                  <a:schemeClr val="lt1"/>
                </a:solidFill>
              </a:rPr>
              <a:t>"기능을 MCP라는 단자를 통해 실현한다"는 핵심은 다음과 같이 세분화.</a:t>
            </a: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lt1"/>
                </a:solidFill>
              </a:rPr>
              <a:t>1. 기능을 담은 주체는 '서버' (The Tool)</a:t>
            </a:r>
            <a:endParaRPr b="1">
              <a:solidFill>
                <a:schemeClr val="lt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US">
                <a:solidFill>
                  <a:schemeClr val="lt1"/>
                </a:solidFill>
              </a:rPr>
              <a:t>실제로 구글 시트에 글을 쓰거나, SQLite에서 데이터를 가져오는 </a:t>
            </a:r>
            <a:r>
              <a:rPr lang="en-US" b="1">
                <a:solidFill>
                  <a:schemeClr val="lt1"/>
                </a:solidFill>
              </a:rPr>
              <a:t>구체적인 행동</a:t>
            </a:r>
            <a:r>
              <a:rPr lang="en-US">
                <a:solidFill>
                  <a:schemeClr val="lt1"/>
                </a:solidFill>
              </a:rPr>
              <a:t>을 하는 주체는 '서버(Server)'라고 불리는 작은 프로그램들입니다.</a:t>
            </a:r>
            <a:endParaRPr>
              <a:solidFill>
                <a:schemeClr val="lt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US">
                <a:solidFill>
                  <a:schemeClr val="lt1"/>
                </a:solidFill>
              </a:rPr>
              <a:t>하지만 이 서버들은 혼자서는 AI와 대화할 줄 모릅니다.</a:t>
            </a: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b="1">
                <a:solidFill>
                  <a:schemeClr val="lt1"/>
                </a:solidFill>
              </a:rPr>
              <a:t>2. 대화를 이끄는 주체는 'AI 모델' (The Brain)</a:t>
            </a:r>
            <a:endParaRPr b="1">
              <a:solidFill>
                <a:schemeClr val="lt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US">
                <a:solidFill>
                  <a:schemeClr val="lt1"/>
                </a:solidFill>
              </a:rPr>
              <a:t>Claude나 ChatGPT 같은 AI는 똑똑하지만, 내 컴퓨터의 파일이나 외부 서비스에 직접 손을 뻗을 수 없습니다.</a:t>
            </a: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b="1">
                <a:solidFill>
                  <a:schemeClr val="lt1"/>
                </a:solidFill>
              </a:rPr>
              <a:t>3. 이 둘을 연결하는 '표준 규격'이 바로 MCP (The Protocol)</a:t>
            </a:r>
            <a:endParaRPr b="1">
              <a:solidFill>
                <a:schemeClr val="lt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US" b="1">
                <a:solidFill>
                  <a:schemeClr val="lt1"/>
                </a:solidFill>
              </a:rPr>
              <a:t>MCP는 AI와 서버가 서로를 알아보고 소통할 수 있게 해주는 '단자 규격'이자 '약속'입니다.</a:t>
            </a:r>
            <a:endParaRPr b="1">
              <a:solidFill>
                <a:schemeClr val="lt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US">
                <a:solidFill>
                  <a:schemeClr val="lt1"/>
                </a:solidFill>
              </a:rPr>
              <a:t>과거에는 AI에게 구글 시트 기능을 주려면 전용 케이블을 따로 제작해야 했지만, 이제는 "너도 MCP 단자니? 나도 MCP 단자야. 그럼 일단 꽂아!"가 가능해진 것입니다.</a:t>
            </a: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>
                <a:solidFill>
                  <a:schemeClr val="lt1"/>
                </a:solidFill>
              </a:rPr>
              <a:t>물리적으로 비유하면 USB 포트 와같이 USB 2.0, 3.0 버전을 지원하는 마우스,키보드,디스플에이,프린터,스캐너 등등등 을 연결하여 사용가능.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e0a97489a0_0_69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8" name="Google Shape;298;g3e0a97489a0_0_69"/>
          <p:cNvSpPr txBox="1"/>
          <p:nvPr/>
        </p:nvSpPr>
        <p:spPr>
          <a:xfrm>
            <a:off x="11548872" y="6492240"/>
            <a:ext cx="457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8CCD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13</a:t>
            </a:r>
            <a:endParaRPr sz="1200" b="0" i="0">
              <a:solidFill>
                <a:srgbClr val="C8CCD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9" name="Google Shape;299;g3e0a97489a0_0_69"/>
          <p:cNvSpPr txBox="1"/>
          <p:nvPr/>
        </p:nvSpPr>
        <p:spPr>
          <a:xfrm>
            <a:off x="548640" y="320040"/>
            <a:ext cx="73152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6</a:t>
            </a:r>
            <a:r>
              <a:rPr lang="en-US" sz="1300" b="0" i="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| 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claude  + 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MCP + sqlite </a:t>
            </a:r>
            <a:r>
              <a:rPr lang="en-US" sz="1300">
                <a:solidFill>
                  <a:srgbClr val="E94F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제어 시연</a:t>
            </a:r>
            <a:endParaRPr sz="1300" b="0" i="0">
              <a:solidFill>
                <a:srgbClr val="E94F3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00" name="Google Shape;300;g3e0a97489a0_0_69"/>
          <p:cNvSpPr txBox="1"/>
          <p:nvPr/>
        </p:nvSpPr>
        <p:spPr>
          <a:xfrm>
            <a:off x="663000" y="776975"/>
            <a:ext cx="10805100" cy="6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-US" sz="1300">
                <a:solidFill>
                  <a:schemeClr val="lt1"/>
                </a:solidFill>
              </a:rPr>
              <a:t>AI 사 의 api 키 가 필요 </a:t>
            </a:r>
            <a:r>
              <a:rPr lang="en-US">
                <a:solidFill>
                  <a:schemeClr val="lt1"/>
                </a:solidFill>
              </a:rPr>
              <a:t> </a:t>
            </a:r>
            <a:r>
              <a:rPr lang="en-US" sz="1200">
                <a:solidFill>
                  <a:srgbClr val="C8CCD6"/>
                </a:solidFill>
              </a:rPr>
              <a:t>(예제: claude</a:t>
            </a:r>
            <a:r>
              <a:rPr lang="en-US" sz="1200">
                <a:solidFill>
                  <a:schemeClr val="tx2"/>
                </a:solidFill>
              </a:rPr>
              <a:t> </a:t>
            </a:r>
            <a:r>
              <a:rPr lang="en-US" sz="1200" u="sng">
                <a:solidFill>
                  <a:schemeClr val="tx2"/>
                </a:solidFill>
                <a:highlight>
                  <a:srgbClr val="C0C0C0"/>
                </a:highlight>
                <a:hlinkClick r:id="rId1"/>
              </a:rPr>
              <a:t>https://platform.claude.com/settings/billing</a:t>
            </a:r>
            <a:r>
              <a:rPr lang="en-US" sz="1200">
                <a:solidFill>
                  <a:schemeClr val="tx2"/>
                </a:solidFill>
                <a:highlight>
                  <a:srgbClr val="C0C0C0"/>
                </a:highlight>
              </a:rPr>
              <a:t> </a:t>
            </a:r>
            <a:r>
              <a:rPr lang="en-US" sz="1200">
                <a:solidFill>
                  <a:srgbClr val="C8CCD6"/>
                </a:solidFill>
              </a:rPr>
              <a:t>충전후 키 발급)</a:t>
            </a:r>
            <a:endParaRPr sz="1200">
              <a:solidFill>
                <a:srgbClr val="C8CCD6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AutoNum type="arabicPeriod"/>
            </a:pPr>
            <a:r>
              <a:rPr lang="en-US" sz="1300">
                <a:solidFill>
                  <a:schemeClr val="lt1"/>
                </a:solidFill>
              </a:rPr>
              <a:t>현 시연 python + pocket-kit 환경으로 구현</a:t>
            </a:r>
            <a:endParaRPr sz="1300">
              <a:solidFill>
                <a:schemeClr val="lt1"/>
              </a:solidFill>
            </a:endParaRPr>
          </a:p>
        </p:txBody>
      </p:sp>
      <p:pic>
        <p:nvPicPr>
          <p:cNvPr id="301" name="Google Shape;301;g3e0a97489a0_0_69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51963" y="1479625"/>
            <a:ext cx="8040074" cy="460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g3e0a97489a0_0_6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467575" y="2206575"/>
            <a:ext cx="9250177" cy="45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08" name="Google Shape;308;p1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4F37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09" name="Google Shape;309;p10"/>
          <p:cNvSpPr txBox="1"/>
          <p:nvPr/>
        </p:nvSpPr>
        <p:spPr>
          <a:xfrm>
            <a:off x="986925" y="2638900"/>
            <a:ext cx="10332600" cy="356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>
                <a:solidFill>
                  <a:srgbClr val="FFD16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Thank You </a:t>
            </a:r>
            <a:r>
              <a:rPr lang="en-US" sz="2800" b="1">
                <a:solidFill>
                  <a:srgbClr val="FFD16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Very Much !</a:t>
            </a:r>
            <a:endParaRPr lang="en-US" sz="2800" b="1">
              <a:solidFill>
                <a:srgbClr val="FFD1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1" i="0">
              <a:solidFill>
                <a:srgbClr val="FFD1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1" i="0">
              <a:solidFill>
                <a:srgbClr val="FFD1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1" i="0">
              <a:solidFill>
                <a:srgbClr val="FFD1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1" i="0">
              <a:solidFill>
                <a:srgbClr val="FFD1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1" i="0">
              <a:solidFill>
                <a:srgbClr val="FFD1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1200" b="1" i="0">
                <a:solidFill>
                  <a:schemeClr val="bg1">
                    <a:lumMod val="65000"/>
                  </a:schemeClr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https://github.com/jeff-bae/pocket-kit</a:t>
            </a:r>
            <a:endParaRPr lang="en-US" altLang="en-US" sz="1200" b="1" i="0">
              <a:solidFill>
                <a:schemeClr val="bg1">
                  <a:lumMod val="65000"/>
                </a:schemeClr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1200" b="1" i="0">
                <a:solidFill>
                  <a:schemeClr val="bg1">
                    <a:lumMod val="65000"/>
                  </a:schemeClr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https://github.com/jeff-bae/ai-db-mcp.git</a:t>
            </a:r>
            <a:endParaRPr lang="en-US" altLang="en-US" sz="1200" b="1" i="0">
              <a:solidFill>
                <a:schemeClr val="bg1">
                  <a:lumMod val="65000"/>
                </a:schemeClr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en-US" sz="1200" b="1" i="0">
              <a:solidFill>
                <a:schemeClr val="bg1">
                  <a:lumMod val="65000"/>
                </a:schemeClr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en-US" sz="1200" b="1" i="0">
              <a:solidFill>
                <a:schemeClr val="bg1">
                  <a:lumMod val="65000"/>
                </a:schemeClr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1000" i="0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" tooltip="" action="ppaction://hlinkfile"/>
              </a:rPr>
              <a:t>https://jeff-bae-ai-db-mcp-juevzgw1jk.app.codeanywhere.com/?folder=/workspaces/ai-db-mcp</a:t>
            </a:r>
            <a:endParaRPr lang="en-US" altLang="en-US" sz="1000" i="0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  <a:hlinkClick r:id="rId1" tooltip="" action="ppaction://hlinkfil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3626</Words>
  <Application>WPS Presentation</Application>
  <PresentationFormat/>
  <Paragraphs>297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SimSun</vt:lpstr>
      <vt:lpstr>Wingdings</vt:lpstr>
      <vt:lpstr>Arial</vt:lpstr>
      <vt:lpstr>Calibri</vt:lpstr>
      <vt:lpstr>맑은 고딕</vt:lpstr>
      <vt:lpstr>Microsoft YaHei</vt:lpstr>
      <vt:lpstr>Arial Unicode MS</vt:lpstr>
      <vt:lpstr>바탕체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Jeff</cp:lastModifiedBy>
  <cp:revision>2</cp:revision>
  <dcterms:created xsi:type="dcterms:W3CDTF">2026-05-12T02:03:00Z</dcterms:created>
  <dcterms:modified xsi:type="dcterms:W3CDTF">2026-05-12T02:27:50Z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F305F287606B4B27B2860FE61290C8EC_12</vt:lpwstr>
  </property>
  <property fmtid="{D5CDD505-2E9C-101B-9397-08002B2CF9AE}" pid="3" name="KSOProductBuildVer">
    <vt:lpwstr>1033-12.2.0.22549</vt:lpwstr>
  </property>
</Properties>
</file>