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</p:sldIdLst>
  <p:sldSz cx="12188825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  <p:extLst>
    <p:ext uri="{EFAFB233-063F-42B5-8137-9DF3F51BA10A}">
      <p15:sldGuideLst xmlns:p15="http://schemas.microsoft.com/office/powerpoint/2012/main">
        <p15:guide id="1" orient="horz" pos="2198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showComments="0">
  <p:normalViewPr>
    <p:restoredLeft sz="15620"/>
    <p:restoredTop sz="94660"/>
  </p:normalViewPr>
  <p:slideViewPr>
    <p:cSldViewPr snapToGrid="0" showGuides="1">
      <p:cViewPr varScale="1">
        <p:scale>
          <a:sx n="100" d="100"/>
          <a:sy n="100" d="100"/>
        </p:scale>
        <p:origin x="0" y="0"/>
      </p:cViewPr>
      <p:guideLst>
        <p:guide orient="horz" pos="2198"/>
        <p:guide pos="2880"/>
      </p:guideLst>
    </p:cSldViewPr>
  </p:slide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0" Type="http://schemas.openxmlformats.org/officeDocument/2006/relationships/tableStyles" Target="tableStyles.xml"/><Relationship Id="rId2" Type="http://schemas.openxmlformats.org/officeDocument/2006/relationships/theme" Target="theme/theme1.xml"/><Relationship Id="rId19" Type="http://schemas.openxmlformats.org/officeDocument/2006/relationships/viewProps" Target="viewProps.xml"/><Relationship Id="rId18" Type="http://schemas.openxmlformats.org/officeDocument/2006/relationships/presProps" Target="presProps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82" name="Google Shape;82;p1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92" name="Google Shape;92;p2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3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16" name="Google Shape;116;p3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4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33" name="Google Shape;133;p4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3e0a97489a0_0_41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58" name="Google Shape;158;g3e0a97489a0_0_41:notes"/>
          <p:cNvSpPr/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5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67" name="Google Shape;167;p5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6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95" name="Google Shape;195;p6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g3e0a97489a0_0_3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13" name="Google Shape;213;g3e0a97489a0_0_3:notes"/>
          <p:cNvSpPr/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7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22" name="Google Shape;222;p7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8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43" name="Google Shape;243;p8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9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69" name="Google Shape;269;p9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g3e0a97489a0_0_21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87" name="Google Shape;287;g3e0a97489a0_0_21:notes"/>
          <p:cNvSpPr/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g3e0a97489a0_0_69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95" name="Google Shape;295;g3e0a97489a0_0_69:notes"/>
          <p:cNvSpPr/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10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05" name="Google Shape;305;p10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matchingNam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2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12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12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matchingName="Title Slid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13"/>
          <p:cNvSpPr txBox="1"/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13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3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3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matchingName="Title and Content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14"/>
          <p:cNvSpPr txBox="1"/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14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14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4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matchingName="Section Header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 panose="020B0604020202020204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5"/>
          <p:cNvSpPr txBox="1"/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15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5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5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matchingName="Two Content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6"/>
          <p:cNvSpPr txBox="1"/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16"/>
          <p:cNvSpPr txBox="1"/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16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16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6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matchingName="Comparison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 panose="020B0604020202020204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17"/>
          <p:cNvSpPr txBox="1"/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/>
        </p:txBody>
      </p:sp>
      <p:sp>
        <p:nvSpPr>
          <p:cNvPr id="43" name="Google Shape;43;p17"/>
          <p:cNvSpPr txBox="1"/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17"/>
          <p:cNvSpPr txBox="1"/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/>
        </p:txBody>
      </p:sp>
      <p:sp>
        <p:nvSpPr>
          <p:cNvPr id="45" name="Google Shape;45;p17"/>
          <p:cNvSpPr txBox="1"/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17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17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7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matchingName="Title 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18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18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18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matchingName="Content with Caption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 panose="020B0604020202020204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9"/>
          <p:cNvSpPr txBox="1"/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19"/>
          <p:cNvSpPr txBox="1"/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19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19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9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matchingName="Picture with Caption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 panose="020B0604020202020204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20"/>
          <p:cNvSpPr/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0"/>
          <p:cNvSpPr txBox="1"/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20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20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20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matchingName="Title and Vertical Text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21"/>
          <p:cNvSpPr txBox="1"/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21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1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21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matchingName="Vertical Title and Text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2"/>
          <p:cNvSpPr txBox="1"/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22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2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22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 panose="020B0604020202020204"/>
              <a:buNone/>
              <a:defRPr sz="4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1"/>
          <p:cNvSpPr txBox="1"/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 panose="020B0604020202020204"/>
              <a:buChar char="•"/>
              <a:defRPr sz="3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Char char="–"/>
              <a:defRPr sz="2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20204"/>
              <a:buChar char="•"/>
              <a:defRPr sz="2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–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»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•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•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•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•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8" name="Google Shape;8;p11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9" name="Google Shape;9;p11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10" name="Google Shape;10;p11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5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1" Type="http://schemas.openxmlformats.org/officeDocument/2006/relationships/hyperlink" Target="https://pocket-kit.cc" TargetMode="Externa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3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hyperlink" Target="https://platform.claude.com/settings/billing" TargetMode="Externa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E94F37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5" name="Google Shape;85;p1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E94F37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6" name="Google Shape;86;p1"/>
          <p:cNvSpPr txBox="1"/>
          <p:nvPr/>
        </p:nvSpPr>
        <p:spPr>
          <a:xfrm>
            <a:off x="1522730" y="1234440"/>
            <a:ext cx="9144000" cy="150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600" b="1" i="0" u="none" strike="noStrike" cap="none">
                <a:solidFill>
                  <a:srgbClr val="E94F37"/>
                </a:solidFill>
                <a:latin typeface="맑은 고딕" panose="020B0503020000020004" charset="-127"/>
                <a:ea typeface="맑은 고딕" panose="020B0503020000020004" charset="-127"/>
                <a:cs typeface="맑은 고딕" panose="020B0503020000020004" charset="-127"/>
                <a:sym typeface="맑은 고딕" panose="020B0503020000020004" charset="-127"/>
              </a:rPr>
              <a:t>지극히 사적인</a:t>
            </a:r>
            <a:endParaRPr sz="4600" b="1" i="0" u="none" strike="noStrike" cap="none">
              <a:solidFill>
                <a:srgbClr val="E94F37"/>
              </a:solidFill>
              <a:latin typeface="맑은 고딕" panose="020B0503020000020004" charset="-127"/>
              <a:ea typeface="맑은 고딕" panose="020B0503020000020004" charset="-127"/>
              <a:cs typeface="맑은 고딕" panose="020B0503020000020004" charset="-127"/>
              <a:sym typeface="맑은 고딕" panose="020B0503020000020004" charset="-127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600" b="1">
                <a:solidFill>
                  <a:srgbClr val="E94F37"/>
                </a:solidFill>
                <a:latin typeface="맑은 고딕" panose="020B0503020000020004" charset="-127"/>
                <a:ea typeface="맑은 고딕" panose="020B0503020000020004" charset="-127"/>
                <a:cs typeface="맑은 고딕" panose="020B0503020000020004" charset="-127"/>
                <a:sym typeface="맑은 고딕" panose="020B0503020000020004" charset="-127"/>
              </a:rPr>
              <a:t>Jeff</a:t>
            </a:r>
            <a:r>
              <a:rPr lang="en-US" sz="4600" b="1" i="0" u="none" strike="noStrike" cap="none">
                <a:solidFill>
                  <a:srgbClr val="E94F37"/>
                </a:solidFill>
                <a:latin typeface="맑은 고딕" panose="020B0503020000020004" charset="-127"/>
                <a:ea typeface="맑은 고딕" panose="020B0503020000020004" charset="-127"/>
                <a:cs typeface="맑은 고딕" panose="020B0503020000020004" charset="-127"/>
                <a:sym typeface="맑은 고딕" panose="020B0503020000020004" charset="-127"/>
              </a:rPr>
              <a:t>↔Interaction</a:t>
            </a:r>
            <a:r>
              <a:rPr lang="en-US" sz="4600" b="1">
                <a:solidFill>
                  <a:srgbClr val="E94F37"/>
                </a:solidFill>
                <a:latin typeface="맑은 고딕" panose="020B0503020000020004" charset="-127"/>
                <a:ea typeface="맑은 고딕" panose="020B0503020000020004" charset="-127"/>
                <a:cs typeface="맑은 고딕" panose="020B0503020000020004" charset="-127"/>
                <a:sym typeface="맑은 고딕" panose="020B0503020000020004" charset="-127"/>
              </a:rPr>
              <a:t>↔</a:t>
            </a:r>
            <a:r>
              <a:rPr lang="en-US" sz="4600" b="1">
                <a:solidFill>
                  <a:srgbClr val="E94F37"/>
                </a:solidFill>
                <a:latin typeface="맑은 고딕" panose="020B0503020000020004" charset="-127"/>
                <a:ea typeface="맑은 고딕" panose="020B0503020000020004" charset="-127"/>
                <a:cs typeface="맑은 고딕" panose="020B0503020000020004" charset="-127"/>
                <a:sym typeface="맑은 고딕" panose="020B0503020000020004" charset="-127"/>
              </a:rPr>
              <a:t>AI</a:t>
            </a:r>
            <a:endParaRPr sz="4600" b="1" i="0" u="none" strike="noStrike" cap="none">
              <a:solidFill>
                <a:srgbClr val="E94F37"/>
              </a:solidFill>
              <a:latin typeface="맑은 고딕" panose="020B0503020000020004" charset="-127"/>
              <a:ea typeface="맑은 고딕" panose="020B0503020000020004" charset="-127"/>
              <a:cs typeface="맑은 고딕" panose="020B0503020000020004" charset="-127"/>
              <a:sym typeface="맑은 고딕" panose="020B0503020000020004" charset="-127"/>
            </a:endParaRPr>
          </a:p>
        </p:txBody>
      </p:sp>
      <p:sp>
        <p:nvSpPr>
          <p:cNvPr id="87" name="Google Shape;87;p1"/>
          <p:cNvSpPr/>
          <p:nvPr/>
        </p:nvSpPr>
        <p:spPr>
          <a:xfrm>
            <a:off x="4114800" y="3520440"/>
            <a:ext cx="3931920" cy="36576"/>
          </a:xfrm>
          <a:prstGeom prst="rect">
            <a:avLst/>
          </a:prstGeom>
          <a:solidFill>
            <a:srgbClr val="E94F37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8" name="Google Shape;88;p1"/>
          <p:cNvSpPr txBox="1"/>
          <p:nvPr/>
        </p:nvSpPr>
        <p:spPr>
          <a:xfrm>
            <a:off x="914400" y="3703320"/>
            <a:ext cx="10332720" cy="36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C8CCD6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pocket-kit  ·  MCP(Model Context Protocol)</a:t>
            </a:r>
            <a:endParaRPr sz="1800" b="0" i="0" u="none" strike="noStrike" cap="none">
              <a:solidFill>
                <a:srgbClr val="C8CCD6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9" name="Google Shape;89;p1"/>
          <p:cNvSpPr txBox="1"/>
          <p:nvPr/>
        </p:nvSpPr>
        <p:spPr>
          <a:xfrm>
            <a:off x="914400" y="4434840"/>
            <a:ext cx="1033272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FFD166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Presenter : Jeff</a:t>
            </a:r>
            <a:endParaRPr sz="1600" b="0" i="0" u="none" strike="noStrike" cap="none">
              <a:solidFill>
                <a:srgbClr val="FFD166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E94F37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5" name="Google Shape;95;p2"/>
          <p:cNvSpPr txBox="1"/>
          <p:nvPr/>
        </p:nvSpPr>
        <p:spPr>
          <a:xfrm>
            <a:off x="11548872" y="6492240"/>
            <a:ext cx="4572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C8CCD6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2</a:t>
            </a:r>
            <a:endParaRPr sz="1200" b="0" i="0" u="none" strike="noStrike" cap="none">
              <a:solidFill>
                <a:srgbClr val="C8CCD6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6" name="Google Shape;96;p2"/>
          <p:cNvSpPr txBox="1"/>
          <p:nvPr/>
        </p:nvSpPr>
        <p:spPr>
          <a:xfrm>
            <a:off x="548640" y="365760"/>
            <a:ext cx="365760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>
                <a:solidFill>
                  <a:srgbClr val="E94F3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목차</a:t>
            </a:r>
            <a:endParaRPr sz="2800" b="1" i="0" u="none" strike="noStrike" cap="none">
              <a:solidFill>
                <a:srgbClr val="E94F37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7" name="Google Shape;97;p2"/>
          <p:cNvSpPr/>
          <p:nvPr/>
        </p:nvSpPr>
        <p:spPr>
          <a:xfrm>
            <a:off x="548640" y="1051560"/>
            <a:ext cx="64008" cy="4023360"/>
          </a:xfrm>
          <a:prstGeom prst="rect">
            <a:avLst/>
          </a:prstGeom>
          <a:solidFill>
            <a:srgbClr val="E94F37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8" name="Google Shape;98;p2"/>
          <p:cNvSpPr/>
          <p:nvPr/>
        </p:nvSpPr>
        <p:spPr>
          <a:xfrm>
            <a:off x="777240" y="1005840"/>
            <a:ext cx="10058400" cy="868680"/>
          </a:xfrm>
          <a:prstGeom prst="rect">
            <a:avLst/>
          </a:prstGeom>
          <a:solidFill>
            <a:srgbClr val="393E46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9" name="Google Shape;99;p2"/>
          <p:cNvSpPr txBox="1"/>
          <p:nvPr/>
        </p:nvSpPr>
        <p:spPr>
          <a:xfrm>
            <a:off x="914400" y="1056640"/>
            <a:ext cx="59436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u="none" strike="noStrike" cap="none">
                <a:solidFill>
                  <a:srgbClr val="E94F3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01</a:t>
            </a:r>
            <a:endParaRPr sz="2200" b="1" i="0" u="none" strike="noStrike" cap="none">
              <a:solidFill>
                <a:srgbClr val="E94F37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00" name="Google Shape;100;p2"/>
          <p:cNvSpPr txBox="1"/>
          <p:nvPr/>
        </p:nvSpPr>
        <p:spPr>
          <a:xfrm>
            <a:off x="1600200" y="1031240"/>
            <a:ext cx="256032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 b="1" i="0" u="none" strike="noStrike" cap="none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Intro</a:t>
            </a:r>
            <a:endParaRPr sz="1900" b="1" i="0" u="none" strike="noStrike" cap="none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01" name="Google Shape;101;p2"/>
          <p:cNvSpPr txBox="1"/>
          <p:nvPr/>
        </p:nvSpPr>
        <p:spPr>
          <a:xfrm>
            <a:off x="4206240" y="1082040"/>
            <a:ext cx="64008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C8CCD6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Jeff는 요즘 무엇</a:t>
            </a:r>
            <a:r>
              <a:rPr lang="en-US">
                <a:solidFill>
                  <a:srgbClr val="C8CCD6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을 삽질하고</a:t>
            </a:r>
            <a:r>
              <a:rPr lang="en-US" sz="1400" b="0" i="0" u="none" strike="noStrike" cap="none">
                <a:solidFill>
                  <a:srgbClr val="C8CCD6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 있</a:t>
            </a:r>
            <a:r>
              <a:rPr lang="en-US">
                <a:solidFill>
                  <a:srgbClr val="C8CCD6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었</a:t>
            </a:r>
            <a:r>
              <a:rPr lang="en-US" sz="1400" b="0" i="0" u="none" strike="noStrike" cap="none">
                <a:solidFill>
                  <a:srgbClr val="C8CCD6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는가? </a:t>
            </a:r>
            <a:r>
              <a:rPr lang="en-US" sz="1200" b="0" i="0" u="none" strike="noStrike" cap="none">
                <a:solidFill>
                  <a:srgbClr val="999999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( </a:t>
            </a:r>
            <a:r>
              <a:rPr lang="en-US" sz="1200">
                <a:solidFill>
                  <a:srgbClr val="999999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물론 주어진 업무 외의 시간에.. )</a:t>
            </a:r>
            <a:endParaRPr sz="1200" b="0" i="0" u="none" strike="noStrike" cap="none">
              <a:solidFill>
                <a:srgbClr val="999999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02" name="Google Shape;102;p2"/>
          <p:cNvSpPr/>
          <p:nvPr/>
        </p:nvSpPr>
        <p:spPr>
          <a:xfrm>
            <a:off x="777240" y="2057400"/>
            <a:ext cx="10058400" cy="868680"/>
          </a:xfrm>
          <a:prstGeom prst="rect">
            <a:avLst/>
          </a:prstGeom>
          <a:solidFill>
            <a:srgbClr val="393E46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03" name="Google Shape;103;p2"/>
          <p:cNvSpPr txBox="1"/>
          <p:nvPr/>
        </p:nvSpPr>
        <p:spPr>
          <a:xfrm>
            <a:off x="914400" y="2108200"/>
            <a:ext cx="59436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u="none" strike="noStrike" cap="none">
                <a:solidFill>
                  <a:srgbClr val="E94F3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02</a:t>
            </a:r>
            <a:endParaRPr sz="2200" b="1" i="0" u="none" strike="noStrike" cap="none">
              <a:solidFill>
                <a:srgbClr val="E94F37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04" name="Google Shape;104;p2"/>
          <p:cNvSpPr txBox="1"/>
          <p:nvPr/>
        </p:nvSpPr>
        <p:spPr>
          <a:xfrm>
            <a:off x="1600200" y="2082800"/>
            <a:ext cx="256032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 b="1" i="0" u="none" strike="noStrike" cap="none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Case Study</a:t>
            </a:r>
            <a:endParaRPr sz="1900" b="1" i="0" u="none" strike="noStrike" cap="none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05" name="Google Shape;105;p2"/>
          <p:cNvSpPr txBox="1"/>
          <p:nvPr/>
        </p:nvSpPr>
        <p:spPr>
          <a:xfrm>
            <a:off x="4206240" y="2133600"/>
            <a:ext cx="64008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C8CCD6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컴팩트한 UI/UX </a:t>
            </a:r>
            <a:r>
              <a:rPr lang="en-US" sz="1400" b="0" i="0" u="none" strike="noStrike" cap="none">
                <a:solidFill>
                  <a:srgbClr val="C8CCD6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에 반해 시작된 프로젝트, pocket-kit</a:t>
            </a:r>
            <a:endParaRPr sz="1400" b="0" i="0" u="none" strike="noStrike" cap="none">
              <a:solidFill>
                <a:srgbClr val="C8CCD6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06" name="Google Shape;106;p2"/>
          <p:cNvSpPr/>
          <p:nvPr/>
        </p:nvSpPr>
        <p:spPr>
          <a:xfrm>
            <a:off x="777240" y="3108960"/>
            <a:ext cx="10058400" cy="868680"/>
          </a:xfrm>
          <a:prstGeom prst="rect">
            <a:avLst/>
          </a:prstGeom>
          <a:solidFill>
            <a:srgbClr val="393E46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07" name="Google Shape;107;p2"/>
          <p:cNvSpPr txBox="1"/>
          <p:nvPr/>
        </p:nvSpPr>
        <p:spPr>
          <a:xfrm>
            <a:off x="914400" y="3159760"/>
            <a:ext cx="59436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u="none" strike="noStrike" cap="none">
                <a:solidFill>
                  <a:srgbClr val="E94F3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03</a:t>
            </a:r>
            <a:endParaRPr sz="2200" b="1" i="0" u="none" strike="noStrike" cap="none">
              <a:solidFill>
                <a:srgbClr val="E94F37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08" name="Google Shape;108;p2"/>
          <p:cNvSpPr txBox="1"/>
          <p:nvPr/>
        </p:nvSpPr>
        <p:spPr>
          <a:xfrm>
            <a:off x="1600200" y="3134360"/>
            <a:ext cx="256032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 b="1" i="0" u="none" strike="noStrike" cap="none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Tech Trend</a:t>
            </a:r>
            <a:endParaRPr sz="1900" b="1" i="0" u="none" strike="noStrike" cap="none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09" name="Google Shape;109;p2"/>
          <p:cNvSpPr txBox="1"/>
          <p:nvPr/>
        </p:nvSpPr>
        <p:spPr>
          <a:xfrm>
            <a:off x="4206240" y="3185160"/>
            <a:ext cx="640080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C8CCD6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AI 시대의 새로운 표준, MCP란 무엇인가?</a:t>
            </a:r>
            <a:endParaRPr sz="1400" b="0" i="0" u="none" strike="noStrike" cap="none">
              <a:solidFill>
                <a:srgbClr val="C8CCD6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10" name="Google Shape;110;p2"/>
          <p:cNvSpPr/>
          <p:nvPr/>
        </p:nvSpPr>
        <p:spPr>
          <a:xfrm>
            <a:off x="777240" y="4160520"/>
            <a:ext cx="10058400" cy="868680"/>
          </a:xfrm>
          <a:prstGeom prst="rect">
            <a:avLst/>
          </a:prstGeom>
          <a:solidFill>
            <a:srgbClr val="393E46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11" name="Google Shape;111;p2"/>
          <p:cNvSpPr txBox="1"/>
          <p:nvPr/>
        </p:nvSpPr>
        <p:spPr>
          <a:xfrm>
            <a:off x="914400" y="4211320"/>
            <a:ext cx="59436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u="none" strike="noStrike" cap="none">
                <a:solidFill>
                  <a:srgbClr val="E94F3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04</a:t>
            </a:r>
            <a:endParaRPr sz="2200" b="1" i="0" u="none" strike="noStrike" cap="none">
              <a:solidFill>
                <a:srgbClr val="E94F37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12" name="Google Shape;112;p2"/>
          <p:cNvSpPr txBox="1"/>
          <p:nvPr/>
        </p:nvSpPr>
        <p:spPr>
          <a:xfrm>
            <a:off x="1600200" y="4185920"/>
            <a:ext cx="256032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 b="1" i="0" u="none" strike="noStrike" cap="none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Vision</a:t>
            </a:r>
            <a:endParaRPr sz="1900" b="1" i="0" u="none" strike="noStrike" cap="none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13" name="Google Shape;113;p2"/>
          <p:cNvSpPr txBox="1"/>
          <p:nvPr/>
        </p:nvSpPr>
        <p:spPr>
          <a:xfrm>
            <a:off x="4206240" y="4236720"/>
            <a:ext cx="640080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C8CCD6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MCP와 AI가 만나면 가능한 일들</a:t>
            </a:r>
            <a:endParaRPr sz="1400" b="0" i="0" u="none" strike="noStrike" cap="none">
              <a:solidFill>
                <a:srgbClr val="C8CCD6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3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E94F37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19" name="Google Shape;119;p3"/>
          <p:cNvSpPr txBox="1"/>
          <p:nvPr/>
        </p:nvSpPr>
        <p:spPr>
          <a:xfrm>
            <a:off x="11548872" y="6492240"/>
            <a:ext cx="4572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C8CCD6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3</a:t>
            </a:r>
            <a:endParaRPr sz="1200" b="0" i="0" u="none" strike="noStrike" cap="none">
              <a:solidFill>
                <a:srgbClr val="C8CCD6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20" name="Google Shape;120;p3"/>
          <p:cNvSpPr txBox="1"/>
          <p:nvPr/>
        </p:nvSpPr>
        <p:spPr>
          <a:xfrm>
            <a:off x="548640" y="320040"/>
            <a:ext cx="457200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E94F3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01  |  Intro</a:t>
            </a:r>
            <a:endParaRPr sz="1300" b="0" i="0" u="none" strike="noStrike" cap="none">
              <a:solidFill>
                <a:srgbClr val="E94F37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21" name="Google Shape;121;p3"/>
          <p:cNvSpPr txBox="1"/>
          <p:nvPr/>
        </p:nvSpPr>
        <p:spPr>
          <a:xfrm>
            <a:off x="548640" y="777240"/>
            <a:ext cx="91440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내용</a:t>
            </a:r>
            <a:endParaRPr sz="3200" b="1" i="0" u="none" strike="noStrike" cap="none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22" name="Google Shape;122;p3"/>
          <p:cNvSpPr/>
          <p:nvPr/>
        </p:nvSpPr>
        <p:spPr>
          <a:xfrm>
            <a:off x="548640" y="1691640"/>
            <a:ext cx="10789920" cy="2377440"/>
          </a:xfrm>
          <a:prstGeom prst="rect">
            <a:avLst/>
          </a:prstGeom>
          <a:solidFill>
            <a:srgbClr val="393E46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23" name="Google Shape;123;p3"/>
          <p:cNvSpPr/>
          <p:nvPr/>
        </p:nvSpPr>
        <p:spPr>
          <a:xfrm>
            <a:off x="548640" y="1691640"/>
            <a:ext cx="91440" cy="2377440"/>
          </a:xfrm>
          <a:prstGeom prst="rect">
            <a:avLst/>
          </a:prstGeom>
          <a:solidFill>
            <a:srgbClr val="E94F37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24" name="Google Shape;124;p3"/>
          <p:cNvSpPr txBox="1"/>
          <p:nvPr/>
        </p:nvSpPr>
        <p:spPr>
          <a:xfrm>
            <a:off x="914400" y="1828800"/>
            <a:ext cx="10058400" cy="19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요즘</a:t>
            </a:r>
            <a:r>
              <a:rPr lang="en-US" sz="1700" b="0" u="none" strike="noStrike" cap="none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 제가 어떤 기술들에 관심을 두고 "삽질" 혹은 "연구"를 하고 있던</a:t>
            </a:r>
            <a:r>
              <a:rPr lang="en-US" sz="1700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 </a:t>
            </a:r>
            <a:r>
              <a:rPr lang="en-US" sz="1700" b="0" u="none" strike="noStrike" cap="none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이야기 해보려 합니다.</a:t>
            </a:r>
            <a:br>
              <a:rPr lang="en-US" sz="1700" b="0" u="none" strike="noStrike" cap="none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</a:br>
            <a:br>
              <a:rPr lang="en-US" sz="1700" b="0" u="none" strike="noStrike" cap="none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</a:br>
            <a:r>
              <a:rPr lang="en-US" sz="1700" b="0" u="none" strike="noStrike" cap="none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1. </a:t>
            </a:r>
            <a:r>
              <a:rPr lang="en-US" sz="1700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Pocketbase 대시보드 UI/UX 를 모티브로 한 순 HTML + CSS + JAVASCRIPT 컴퍼넌트 라이브러리</a:t>
            </a:r>
            <a:endParaRPr sz="1700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    </a:t>
            </a:r>
            <a:r>
              <a:rPr lang="en-US" sz="1500">
                <a:solidFill>
                  <a:srgbClr val="B7B7B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Pocketbase 란? </a:t>
            </a:r>
            <a:r>
              <a:rPr lang="en-US" sz="1500">
                <a:solidFill>
                  <a:srgbClr val="B7B7B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 postgresql 기반의 원격 Database 서비스</a:t>
            </a:r>
            <a:endParaRPr sz="1500">
              <a:solidFill>
                <a:srgbClr val="B7B7B7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US" sz="1700" b="0" u="none" strike="noStrike" cap="none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</a:br>
            <a:r>
              <a:rPr lang="en-US" sz="1700" b="0" u="none" strike="noStrike" cap="none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2. AI 생태계를 뒤흔들고 있는 MCP</a:t>
            </a:r>
            <a:r>
              <a:rPr lang="en-US" sz="1700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 </a:t>
            </a:r>
            <a:endParaRPr sz="1700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   </a:t>
            </a:r>
            <a:r>
              <a:rPr lang="en-US">
                <a:solidFill>
                  <a:srgbClr val="CCCCCC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MCP 란 MPC + AI 의 효과</a:t>
            </a:r>
            <a:endParaRPr>
              <a:solidFill>
                <a:srgbClr val="CCCCCC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25" name="Google Shape;125;p3"/>
          <p:cNvSpPr/>
          <p:nvPr/>
        </p:nvSpPr>
        <p:spPr>
          <a:xfrm>
            <a:off x="1371600" y="4297680"/>
            <a:ext cx="4206240" cy="1463040"/>
          </a:xfrm>
          <a:prstGeom prst="rect">
            <a:avLst/>
          </a:prstGeom>
          <a:solidFill>
            <a:srgbClr val="16213E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26" name="Google Shape;126;p3"/>
          <p:cNvSpPr txBox="1"/>
          <p:nvPr/>
        </p:nvSpPr>
        <p:spPr>
          <a:xfrm>
            <a:off x="1554480" y="4434840"/>
            <a:ext cx="38406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>
                <a:solidFill>
                  <a:srgbClr val="E94F3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🛠  pocket-kit</a:t>
            </a:r>
            <a:endParaRPr sz="2000" b="1" i="0" u="none" strike="noStrike" cap="none">
              <a:solidFill>
                <a:srgbClr val="E94F37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27" name="Google Shape;127;p3"/>
          <p:cNvSpPr txBox="1"/>
          <p:nvPr/>
        </p:nvSpPr>
        <p:spPr>
          <a:xfrm>
            <a:off x="1554480" y="4937760"/>
            <a:ext cx="384048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C8CCD6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오픈소스 UI 라이브러리</a:t>
            </a:r>
            <a:endParaRPr sz="1400" b="0" i="0" u="none" strike="noStrike" cap="none">
              <a:solidFill>
                <a:srgbClr val="C8CCD6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28" name="Google Shape;128;p3"/>
          <p:cNvSpPr/>
          <p:nvPr/>
        </p:nvSpPr>
        <p:spPr>
          <a:xfrm>
            <a:off x="6400800" y="4297680"/>
            <a:ext cx="4206240" cy="1463040"/>
          </a:xfrm>
          <a:prstGeom prst="rect">
            <a:avLst/>
          </a:prstGeom>
          <a:solidFill>
            <a:srgbClr val="16213E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29" name="Google Shape;129;p3"/>
          <p:cNvSpPr txBox="1"/>
          <p:nvPr/>
        </p:nvSpPr>
        <p:spPr>
          <a:xfrm>
            <a:off x="6583680" y="4434840"/>
            <a:ext cx="384048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>
                <a:solidFill>
                  <a:srgbClr val="E94F3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🤖  MCP</a:t>
            </a:r>
            <a:endParaRPr sz="2000" b="1" i="0" u="none" strike="noStrike" cap="none">
              <a:solidFill>
                <a:srgbClr val="E94F37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30" name="Google Shape;130;p3"/>
          <p:cNvSpPr txBox="1"/>
          <p:nvPr/>
        </p:nvSpPr>
        <p:spPr>
          <a:xfrm>
            <a:off x="6583680" y="4937760"/>
            <a:ext cx="384048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C8CCD6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Model Context Protocol</a:t>
            </a:r>
            <a:endParaRPr sz="1400" b="0" i="0" u="none" strike="noStrike" cap="none">
              <a:solidFill>
                <a:srgbClr val="C8CCD6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4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E94F37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36" name="Google Shape;136;p4"/>
          <p:cNvSpPr txBox="1"/>
          <p:nvPr/>
        </p:nvSpPr>
        <p:spPr>
          <a:xfrm>
            <a:off x="11548872" y="6492240"/>
            <a:ext cx="4572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C8CCD6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4</a:t>
            </a:r>
            <a:endParaRPr sz="1200" b="0" i="0" u="none" strike="noStrike" cap="none">
              <a:solidFill>
                <a:srgbClr val="C8CCD6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37" name="Google Shape;137;p4"/>
          <p:cNvSpPr txBox="1"/>
          <p:nvPr/>
        </p:nvSpPr>
        <p:spPr>
          <a:xfrm>
            <a:off x="548640" y="320040"/>
            <a:ext cx="457200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E94F3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02  |  Case Study</a:t>
            </a:r>
            <a:endParaRPr sz="1300" b="0" i="0" u="none" strike="noStrike" cap="none">
              <a:solidFill>
                <a:srgbClr val="E94F37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38" name="Google Shape;138;p4"/>
          <p:cNvSpPr txBox="1"/>
          <p:nvPr/>
        </p:nvSpPr>
        <p:spPr>
          <a:xfrm>
            <a:off x="548640" y="731520"/>
            <a:ext cx="91440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400" b="1" i="0" u="none" strike="noStrike" cap="none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pocket-kit.cc</a:t>
            </a:r>
            <a:endParaRPr sz="3400" b="1" i="0" u="none" strike="noStrike" cap="none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39" name="Google Shape;139;p4"/>
          <p:cNvSpPr txBox="1"/>
          <p:nvPr/>
        </p:nvSpPr>
        <p:spPr>
          <a:xfrm>
            <a:off x="548640" y="1325880"/>
            <a:ext cx="91440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C8CCD6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PocketBase의 감성을 </a:t>
            </a:r>
            <a:r>
              <a:rPr lang="en-US" sz="1800">
                <a:solidFill>
                  <a:srgbClr val="C8CCD6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그대로 초 경량화 된 순수 HTML+JS+CSS </a:t>
            </a:r>
            <a:r>
              <a:rPr lang="en-US" sz="1800" b="0" i="0" u="none" strike="noStrike" cap="none">
                <a:solidFill>
                  <a:srgbClr val="C8CCD6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오픈소스 </a:t>
            </a:r>
            <a:r>
              <a:rPr lang="en-US" sz="1800">
                <a:solidFill>
                  <a:srgbClr val="C8CCD6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라이브러리</a:t>
            </a:r>
            <a:endParaRPr sz="1800" b="0" i="0" u="none" strike="noStrike" cap="none">
              <a:solidFill>
                <a:srgbClr val="C8CCD6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40" name="Google Shape;140;p4"/>
          <p:cNvSpPr/>
          <p:nvPr/>
        </p:nvSpPr>
        <p:spPr>
          <a:xfrm>
            <a:off x="411480" y="2011680"/>
            <a:ext cx="2651760" cy="3749039"/>
          </a:xfrm>
          <a:prstGeom prst="rect">
            <a:avLst/>
          </a:prstGeom>
          <a:solidFill>
            <a:srgbClr val="393E46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41" name="Google Shape;141;p4"/>
          <p:cNvSpPr/>
          <p:nvPr/>
        </p:nvSpPr>
        <p:spPr>
          <a:xfrm>
            <a:off x="411480" y="2011680"/>
            <a:ext cx="2651760" cy="411480"/>
          </a:xfrm>
          <a:prstGeom prst="rect">
            <a:avLst/>
          </a:prstGeom>
          <a:solidFill>
            <a:srgbClr val="E94F37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42" name="Google Shape;142;p4"/>
          <p:cNvSpPr txBox="1"/>
          <p:nvPr/>
        </p:nvSpPr>
        <p:spPr>
          <a:xfrm>
            <a:off x="502920" y="2029968"/>
            <a:ext cx="246888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1A1A2E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배경</a:t>
            </a:r>
            <a:endParaRPr sz="1500" b="1" i="0" u="none" strike="noStrike" cap="none">
              <a:solidFill>
                <a:srgbClr val="1A1A2E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43" name="Google Shape;143;p4"/>
          <p:cNvSpPr txBox="1"/>
          <p:nvPr/>
        </p:nvSpPr>
        <p:spPr>
          <a:xfrm>
            <a:off x="521208" y="2560320"/>
            <a:ext cx="2423100" cy="147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PocketBase의 정갈하고 직관적인</a:t>
            </a:r>
            <a:r>
              <a:rPr lang="en-US" sz="1500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 </a:t>
            </a:r>
            <a:r>
              <a:rPr lang="en-US" sz="1500" b="0" i="0" u="none" strike="noStrike" cap="none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UI/UX에 매료</a:t>
            </a:r>
            <a:r>
              <a:rPr lang="en-US" sz="1500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됨</a:t>
            </a:r>
            <a:r>
              <a:rPr lang="en-US" sz="1500" b="0" i="0" u="none" strike="noStrike" cap="none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.</a:t>
            </a:r>
            <a:endParaRPr sz="1500" b="0" i="0" u="none" strike="noStrike" cap="none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500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그러나 이 UI는 svelte 로 </a:t>
            </a:r>
            <a:endParaRPr sz="1500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제작 되엇고 명확한 디자인 가이드라인이 없다.</a:t>
            </a:r>
            <a:endParaRPr sz="1500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44" name="Google Shape;144;p4"/>
          <p:cNvSpPr/>
          <p:nvPr/>
        </p:nvSpPr>
        <p:spPr>
          <a:xfrm>
            <a:off x="3291840" y="2011680"/>
            <a:ext cx="2651760" cy="3749039"/>
          </a:xfrm>
          <a:prstGeom prst="rect">
            <a:avLst/>
          </a:prstGeom>
          <a:solidFill>
            <a:srgbClr val="393E46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45" name="Google Shape;145;p4"/>
          <p:cNvSpPr/>
          <p:nvPr/>
        </p:nvSpPr>
        <p:spPr>
          <a:xfrm>
            <a:off x="3291840" y="2011680"/>
            <a:ext cx="2651760" cy="411480"/>
          </a:xfrm>
          <a:prstGeom prst="rect">
            <a:avLst/>
          </a:prstGeom>
          <a:solidFill>
            <a:srgbClr val="FFD166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46" name="Google Shape;146;p4"/>
          <p:cNvSpPr txBox="1"/>
          <p:nvPr/>
        </p:nvSpPr>
        <p:spPr>
          <a:xfrm>
            <a:off x="3383280" y="2029968"/>
            <a:ext cx="246888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1A1A2E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동기</a:t>
            </a:r>
            <a:endParaRPr sz="1500" b="1" i="0" u="none" strike="noStrike" cap="none">
              <a:solidFill>
                <a:srgbClr val="1A1A2E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47" name="Google Shape;147;p4"/>
          <p:cNvSpPr txBox="1"/>
          <p:nvPr/>
        </p:nvSpPr>
        <p:spPr>
          <a:xfrm>
            <a:off x="3401568" y="2560320"/>
            <a:ext cx="2423100" cy="78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이 예쁜 </a:t>
            </a:r>
            <a:r>
              <a:rPr lang="en-US" sz="1500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쁘고 가벼운 </a:t>
            </a:r>
            <a:r>
              <a:rPr lang="en-US" sz="1500" b="0" i="0" u="none" strike="noStrike" cap="none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UI를 내 프로젝트에도</a:t>
            </a:r>
            <a:r>
              <a:rPr lang="en-US" sz="1500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 </a:t>
            </a:r>
            <a:r>
              <a:rPr lang="en-US" sz="1500" b="0" i="0" u="none" strike="noStrike" cap="none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쉽게 쓰고 싶다는 생각</a:t>
            </a:r>
            <a:r>
              <a:rPr lang="en-US" sz="1500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이 든다.</a:t>
            </a:r>
            <a:endParaRPr sz="1500" b="0" i="0" u="none" strike="noStrike" cap="none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48" name="Google Shape;148;p4"/>
          <p:cNvSpPr/>
          <p:nvPr/>
        </p:nvSpPr>
        <p:spPr>
          <a:xfrm>
            <a:off x="6172200" y="2011680"/>
            <a:ext cx="2651760" cy="3749039"/>
          </a:xfrm>
          <a:prstGeom prst="rect">
            <a:avLst/>
          </a:prstGeom>
          <a:solidFill>
            <a:srgbClr val="393E46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49" name="Google Shape;149;p4"/>
          <p:cNvSpPr/>
          <p:nvPr/>
        </p:nvSpPr>
        <p:spPr>
          <a:xfrm>
            <a:off x="6172200" y="2011680"/>
            <a:ext cx="2651760" cy="411480"/>
          </a:xfrm>
          <a:prstGeom prst="rect">
            <a:avLst/>
          </a:prstGeom>
          <a:solidFill>
            <a:srgbClr val="4CAF5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50" name="Google Shape;150;p4"/>
          <p:cNvSpPr txBox="1"/>
          <p:nvPr/>
        </p:nvSpPr>
        <p:spPr>
          <a:xfrm>
            <a:off x="6263640" y="2029968"/>
            <a:ext cx="246888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1A1A2E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실행</a:t>
            </a:r>
            <a:endParaRPr sz="1500" b="1" i="0" u="none" strike="noStrike" cap="none">
              <a:solidFill>
                <a:srgbClr val="1A1A2E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51" name="Google Shape;151;p4"/>
          <p:cNvSpPr txBox="1"/>
          <p:nvPr/>
        </p:nvSpPr>
        <p:spPr>
          <a:xfrm>
            <a:off x="6281928" y="2560320"/>
            <a:ext cx="2423100" cy="240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UI 컴포넌트 정리 →</a:t>
            </a:r>
            <a:endParaRPr sz="1500" b="0" i="0" u="none" strike="noStrike" cap="none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각 사의 AI 툴들을 동원해서 </a:t>
            </a:r>
            <a:endParaRPr sz="1500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해당 페이지를 크롤링 해</a:t>
            </a:r>
            <a:endParaRPr sz="1500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보았지만 .결과가 …</a:t>
            </a:r>
            <a:endParaRPr sz="1500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500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결국 전통적이고 폭력적인</a:t>
            </a:r>
            <a:endParaRPr sz="1500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500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[Ctrl + S]  + ai 툴  로 복구</a:t>
            </a:r>
            <a:endParaRPr sz="1500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 </a:t>
            </a:r>
            <a:br>
              <a:rPr lang="en-US" sz="1500" b="0" i="0" u="none" strike="noStrike" cap="none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</a:br>
            <a:r>
              <a:rPr lang="en-US" sz="1500" b="0" i="0" u="none" strike="noStrike" cap="none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MIT 라이선스로 GitHub 배포</a:t>
            </a:r>
            <a:endParaRPr sz="1500" b="0" i="0" u="none" strike="noStrike" cap="none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52" name="Google Shape;152;p4"/>
          <p:cNvSpPr/>
          <p:nvPr/>
        </p:nvSpPr>
        <p:spPr>
          <a:xfrm>
            <a:off x="9052560" y="2011680"/>
            <a:ext cx="2651760" cy="3749039"/>
          </a:xfrm>
          <a:prstGeom prst="rect">
            <a:avLst/>
          </a:prstGeom>
          <a:solidFill>
            <a:srgbClr val="393E46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53" name="Google Shape;153;p4"/>
          <p:cNvSpPr/>
          <p:nvPr/>
        </p:nvSpPr>
        <p:spPr>
          <a:xfrm>
            <a:off x="9052560" y="2011680"/>
            <a:ext cx="2651760" cy="411480"/>
          </a:xfrm>
          <a:prstGeom prst="rect">
            <a:avLst/>
          </a:prstGeom>
          <a:solidFill>
            <a:srgbClr val="5C6BC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54" name="Google Shape;154;p4"/>
          <p:cNvSpPr txBox="1"/>
          <p:nvPr/>
        </p:nvSpPr>
        <p:spPr>
          <a:xfrm>
            <a:off x="9144000" y="2029968"/>
            <a:ext cx="246888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1A1A2E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결과</a:t>
            </a:r>
            <a:endParaRPr sz="1500" b="1" i="0" u="none" strike="noStrike" cap="none">
              <a:solidFill>
                <a:srgbClr val="1A1A2E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55" name="Google Shape;155;p4"/>
          <p:cNvSpPr txBox="1"/>
          <p:nvPr/>
        </p:nvSpPr>
        <p:spPr>
          <a:xfrm>
            <a:off x="9162288" y="2560320"/>
            <a:ext cx="2423100" cy="286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가장 기본적인 </a:t>
            </a:r>
            <a:endParaRPr sz="1500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HTML + JS + CSS 로 되 라이브러리로 정리</a:t>
            </a:r>
            <a:endParaRPr sz="1500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500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프로젝트에 들어가는 도구들 모두 오픈소스 기반임을 확인하고 출처 공개후 </a:t>
            </a:r>
            <a:r>
              <a:rPr lang="en-US" sz="1500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배포</a:t>
            </a:r>
            <a:endParaRPr sz="1500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500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복잡한 설정 없이 </a:t>
            </a:r>
            <a:r>
              <a:rPr lang="en-US" sz="1500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바로 사용 가능</a:t>
            </a:r>
            <a:endParaRPr sz="1500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500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500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g3e0a97489a0_0_41"/>
          <p:cNvSpPr/>
          <p:nvPr/>
        </p:nvSpPr>
        <p:spPr>
          <a:xfrm>
            <a:off x="0" y="0"/>
            <a:ext cx="12189000" cy="73200"/>
          </a:xfrm>
          <a:prstGeom prst="rect">
            <a:avLst/>
          </a:prstGeom>
          <a:solidFill>
            <a:srgbClr val="E94F37"/>
          </a:solidFill>
          <a:ln>
            <a:noFill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61" name="Google Shape;161;g3e0a97489a0_0_41"/>
          <p:cNvSpPr txBox="1"/>
          <p:nvPr/>
        </p:nvSpPr>
        <p:spPr>
          <a:xfrm>
            <a:off x="11548872" y="6492240"/>
            <a:ext cx="457200" cy="27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C8CCD6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5</a:t>
            </a:r>
            <a:endParaRPr sz="1200" b="0" i="0" u="none" strike="noStrike" cap="none">
              <a:solidFill>
                <a:srgbClr val="C8CCD6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62" name="Google Shape;162;g3e0a97489a0_0_41"/>
          <p:cNvSpPr txBox="1"/>
          <p:nvPr/>
        </p:nvSpPr>
        <p:spPr>
          <a:xfrm>
            <a:off x="548640" y="320040"/>
            <a:ext cx="45720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E94F3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02  |  Case Study</a:t>
            </a:r>
            <a:endParaRPr sz="1300" b="0" i="0" u="none" strike="noStrike" cap="none">
              <a:solidFill>
                <a:srgbClr val="E94F37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63" name="Google Shape;163;g3e0a97489a0_0_41"/>
          <p:cNvSpPr/>
          <p:nvPr/>
        </p:nvSpPr>
        <p:spPr>
          <a:xfrm>
            <a:off x="548650" y="766600"/>
            <a:ext cx="11000100" cy="725100"/>
          </a:xfrm>
          <a:prstGeom prst="rect">
            <a:avLst/>
          </a:prstGeom>
          <a:solidFill>
            <a:srgbClr val="43434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lt1"/>
                </a:solidFill>
                <a:highlight>
                  <a:srgbClr val="434343"/>
                </a:highlight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가장 많이 사용 되고 있는 컴퍼넌트들 만 사용 하여 부피를 최소한으로 하여 프로젝트에 불필요한 full 패키지 import 를 줄임.</a:t>
            </a:r>
            <a:endParaRPr>
              <a:solidFill>
                <a:schemeClr val="lt1"/>
              </a:solidFill>
              <a:highlight>
                <a:srgbClr val="434343"/>
              </a:highlight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u="sng">
                <a:solidFill>
                  <a:srgbClr val="C8CCD6"/>
                </a:solidFill>
                <a:highlight>
                  <a:srgbClr val="434343"/>
                </a:highlight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  <a:hlinkClick r:id="rId1"/>
              </a:rPr>
              <a:t>https://</a:t>
            </a:r>
            <a:r>
              <a:rPr lang="en-US" u="sng">
                <a:solidFill>
                  <a:srgbClr val="C8CCD6"/>
                </a:solidFill>
                <a:highlight>
                  <a:srgbClr val="434343"/>
                </a:highlight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  <a:hlinkClick r:id="rId1"/>
              </a:rPr>
              <a:t>pocket-kit.cc</a:t>
            </a:r>
            <a:r>
              <a:rPr lang="en-US">
                <a:solidFill>
                  <a:srgbClr val="C8CCD6"/>
                </a:solidFill>
                <a:highlight>
                  <a:srgbClr val="434343"/>
                </a:highlight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 </a:t>
            </a:r>
            <a:endParaRPr>
              <a:solidFill>
                <a:srgbClr val="C8CCD6"/>
              </a:solidFill>
              <a:highlight>
                <a:srgbClr val="434343"/>
              </a:highlight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pic>
        <p:nvPicPr>
          <p:cNvPr id="164" name="Google Shape;164;g3e0a97489a0_0_41"/>
          <p:cNvPicPr preferRelativeResize="0"/>
          <p:nvPr/>
        </p:nvPicPr>
        <p:blipFill>
          <a:blip r:embed="rId2"/>
          <a:stretch>
            <a:fillRect/>
          </a:stretch>
        </p:blipFill>
        <p:spPr>
          <a:xfrm>
            <a:off x="548650" y="1645750"/>
            <a:ext cx="11000100" cy="4781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5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E94F37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70" name="Google Shape;170;p5"/>
          <p:cNvSpPr txBox="1"/>
          <p:nvPr/>
        </p:nvSpPr>
        <p:spPr>
          <a:xfrm>
            <a:off x="11548872" y="6492240"/>
            <a:ext cx="457200" cy="27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C8CCD6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6</a:t>
            </a:r>
            <a:endParaRPr sz="1200" b="0" i="0" u="none" strike="noStrike" cap="none">
              <a:solidFill>
                <a:srgbClr val="C8CCD6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71" name="Google Shape;171;p5"/>
          <p:cNvSpPr txBox="1"/>
          <p:nvPr/>
        </p:nvSpPr>
        <p:spPr>
          <a:xfrm>
            <a:off x="548640" y="320040"/>
            <a:ext cx="457200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E94F3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03  |  Tech Trend</a:t>
            </a:r>
            <a:endParaRPr sz="1300" b="0" i="0" u="none" strike="noStrike" cap="none">
              <a:solidFill>
                <a:srgbClr val="E94F37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72" name="Google Shape;172;p5"/>
          <p:cNvSpPr txBox="1"/>
          <p:nvPr/>
        </p:nvSpPr>
        <p:spPr>
          <a:xfrm>
            <a:off x="548640" y="731520"/>
            <a:ext cx="91440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400" b="1" i="0" u="none" strike="noStrike" cap="none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MCP란 무엇인가?</a:t>
            </a:r>
            <a:endParaRPr sz="3400" b="1" i="0" u="none" strike="noStrike" cap="none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73" name="Google Shape;173;p5"/>
          <p:cNvSpPr txBox="1"/>
          <p:nvPr/>
        </p:nvSpPr>
        <p:spPr>
          <a:xfrm>
            <a:off x="548640" y="132588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0" i="0" u="none" strike="noStrike" cap="none">
                <a:solidFill>
                  <a:srgbClr val="C8CCD6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Model Context Protocol  —  AI와 외부 세상을 잇는 표준 규격</a:t>
            </a:r>
            <a:endParaRPr sz="1700" b="0" i="0" u="none" strike="noStrike" cap="none">
              <a:solidFill>
                <a:srgbClr val="C8CCD6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74" name="Google Shape;174;p5"/>
          <p:cNvSpPr/>
          <p:nvPr/>
        </p:nvSpPr>
        <p:spPr>
          <a:xfrm>
            <a:off x="548640" y="1920240"/>
            <a:ext cx="3474720" cy="3200400"/>
          </a:xfrm>
          <a:prstGeom prst="rect">
            <a:avLst/>
          </a:prstGeom>
          <a:solidFill>
            <a:srgbClr val="16213E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75" name="Google Shape;175;p5"/>
          <p:cNvSpPr txBox="1"/>
          <p:nvPr/>
        </p:nvSpPr>
        <p:spPr>
          <a:xfrm>
            <a:off x="548640" y="2286000"/>
            <a:ext cx="347472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u="none" strike="noStrike" cap="none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AI 모델</a:t>
            </a:r>
            <a:br>
              <a:rPr lang="en-US" sz="2200" b="1" i="0" u="none" strike="noStrike" cap="none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</a:br>
            <a:r>
              <a:rPr lang="en-US" sz="2200" b="1" i="0" u="none" strike="noStrike" cap="none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(두뇌)</a:t>
            </a:r>
            <a:endParaRPr sz="2200" b="1" i="0" u="none" strike="noStrike" cap="none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76" name="Google Shape;176;p5"/>
          <p:cNvSpPr txBox="1"/>
          <p:nvPr/>
        </p:nvSpPr>
        <p:spPr>
          <a:xfrm>
            <a:off x="548640" y="3017520"/>
            <a:ext cx="347472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C8CCD6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질문을 이해하고</a:t>
            </a:r>
            <a:br>
              <a:rPr lang="en-US" sz="1400" b="0" i="0" u="none" strike="noStrike" cap="none">
                <a:solidFill>
                  <a:srgbClr val="C8CCD6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</a:br>
            <a:r>
              <a:rPr lang="en-US" sz="1400" b="0" i="0" u="none" strike="noStrike" cap="none">
                <a:solidFill>
                  <a:srgbClr val="C8CCD6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판단을 내립니다</a:t>
            </a:r>
            <a:endParaRPr sz="1400" b="0" i="0" u="none" strike="noStrike" cap="none">
              <a:solidFill>
                <a:srgbClr val="C8CCD6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77" name="Google Shape;177;p5"/>
          <p:cNvSpPr/>
          <p:nvPr/>
        </p:nvSpPr>
        <p:spPr>
          <a:xfrm>
            <a:off x="4297680" y="1920240"/>
            <a:ext cx="457200" cy="3200400"/>
          </a:xfrm>
          <a:prstGeom prst="rect">
            <a:avLst/>
          </a:prstGeom>
          <a:solidFill>
            <a:srgbClr val="E94F37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78" name="Google Shape;178;p5"/>
          <p:cNvSpPr txBox="1"/>
          <p:nvPr/>
        </p:nvSpPr>
        <p:spPr>
          <a:xfrm>
            <a:off x="4283029" y="2834650"/>
            <a:ext cx="457200" cy="76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MCP</a:t>
            </a:r>
            <a:br>
              <a:rPr lang="en-US" sz="1100" b="1" i="0" u="none" strike="noStrike" cap="none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</a:br>
            <a:r>
              <a:rPr lang="en-US" sz="1100" b="1" i="0" u="none" strike="noStrike" cap="none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신</a:t>
            </a:r>
            <a:endParaRPr sz="1100" b="1" i="0" u="none" strike="noStrike" cap="none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경</a:t>
            </a:r>
            <a:endParaRPr sz="1100" b="1" i="0" u="none" strike="noStrike" cap="none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망</a:t>
            </a:r>
            <a:endParaRPr sz="1100" b="1" i="0" u="none" strike="noStrike" cap="none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79" name="Google Shape;179;p5"/>
          <p:cNvSpPr/>
          <p:nvPr/>
        </p:nvSpPr>
        <p:spPr>
          <a:xfrm>
            <a:off x="4937760" y="1920240"/>
            <a:ext cx="2377440" cy="685800"/>
          </a:xfrm>
          <a:prstGeom prst="rect">
            <a:avLst/>
          </a:prstGeom>
          <a:solidFill>
            <a:srgbClr val="24292E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80" name="Google Shape;180;p5"/>
          <p:cNvSpPr txBox="1"/>
          <p:nvPr/>
        </p:nvSpPr>
        <p:spPr>
          <a:xfrm>
            <a:off x="5029200" y="1983740"/>
            <a:ext cx="219456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GitHub 팔</a:t>
            </a:r>
            <a:endParaRPr sz="1400" b="1" i="0" u="none" strike="noStrike" cap="none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81" name="Google Shape;181;p5"/>
          <p:cNvSpPr/>
          <p:nvPr/>
        </p:nvSpPr>
        <p:spPr>
          <a:xfrm>
            <a:off x="4937760" y="2743200"/>
            <a:ext cx="2377440" cy="685800"/>
          </a:xfrm>
          <a:prstGeom prst="rect">
            <a:avLst/>
          </a:prstGeom>
          <a:solidFill>
            <a:srgbClr val="4A154B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82" name="Google Shape;182;p5"/>
          <p:cNvSpPr txBox="1"/>
          <p:nvPr/>
        </p:nvSpPr>
        <p:spPr>
          <a:xfrm>
            <a:off x="5029200" y="2806700"/>
            <a:ext cx="219456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Slack 팔</a:t>
            </a:r>
            <a:endParaRPr sz="1400" b="1" i="0" u="none" strike="noStrike" cap="none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83" name="Google Shape;183;p5"/>
          <p:cNvSpPr/>
          <p:nvPr/>
        </p:nvSpPr>
        <p:spPr>
          <a:xfrm>
            <a:off x="4937760" y="3566160"/>
            <a:ext cx="2377440" cy="685800"/>
          </a:xfrm>
          <a:prstGeom prst="rect">
            <a:avLst/>
          </a:prstGeom>
          <a:solidFill>
            <a:srgbClr val="1B4F72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84" name="Google Shape;184;p5"/>
          <p:cNvSpPr txBox="1"/>
          <p:nvPr/>
        </p:nvSpPr>
        <p:spPr>
          <a:xfrm>
            <a:off x="5029200" y="3629660"/>
            <a:ext cx="219456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DB 팔</a:t>
            </a:r>
            <a:endParaRPr sz="1400" b="1" i="0" u="none" strike="noStrike" cap="none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85" name="Google Shape;185;p5"/>
          <p:cNvSpPr/>
          <p:nvPr/>
        </p:nvSpPr>
        <p:spPr>
          <a:xfrm>
            <a:off x="4937760" y="4389120"/>
            <a:ext cx="2377440" cy="685800"/>
          </a:xfrm>
          <a:prstGeom prst="rect">
            <a:avLst/>
          </a:prstGeom>
          <a:solidFill>
            <a:srgbClr val="1E4D2B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86" name="Google Shape;186;p5"/>
          <p:cNvSpPr txBox="1"/>
          <p:nvPr/>
        </p:nvSpPr>
        <p:spPr>
          <a:xfrm>
            <a:off x="5029200" y="4452620"/>
            <a:ext cx="219456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파일 팔</a:t>
            </a:r>
            <a:endParaRPr sz="1400" b="1" i="0" u="none" strike="noStrike" cap="none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87" name="Google Shape;187;p5"/>
          <p:cNvSpPr/>
          <p:nvPr/>
        </p:nvSpPr>
        <p:spPr>
          <a:xfrm>
            <a:off x="7498079" y="1920240"/>
            <a:ext cx="4480560" cy="3200400"/>
          </a:xfrm>
          <a:prstGeom prst="rect">
            <a:avLst/>
          </a:prstGeom>
          <a:solidFill>
            <a:srgbClr val="393E46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88" name="Google Shape;188;p5"/>
          <p:cNvSpPr txBox="1"/>
          <p:nvPr/>
        </p:nvSpPr>
        <p:spPr>
          <a:xfrm>
            <a:off x="7498079" y="2286000"/>
            <a:ext cx="448056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>
                <a:solidFill>
                  <a:srgbClr val="E94F3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외부 세상</a:t>
            </a:r>
            <a:endParaRPr sz="2000" b="1" i="0" u="none" strike="noStrike" cap="none">
              <a:solidFill>
                <a:srgbClr val="E94F37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89" name="Google Shape;189;p5"/>
          <p:cNvSpPr txBox="1"/>
          <p:nvPr/>
        </p:nvSpPr>
        <p:spPr>
          <a:xfrm>
            <a:off x="7772400" y="2834640"/>
            <a:ext cx="393192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C8CCD6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✦  문서 / 데이터베이스</a:t>
            </a:r>
            <a:endParaRPr sz="1400" b="0" i="0" u="none" strike="noStrike" cap="none">
              <a:solidFill>
                <a:srgbClr val="C8CCD6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90" name="Google Shape;190;p5"/>
          <p:cNvSpPr txBox="1"/>
          <p:nvPr/>
        </p:nvSpPr>
        <p:spPr>
          <a:xfrm>
            <a:off x="7772400" y="3337560"/>
            <a:ext cx="393192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C8CCD6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✦  웹사이트 / API</a:t>
            </a:r>
            <a:endParaRPr sz="1400" b="0" i="0" u="none" strike="noStrike" cap="none">
              <a:solidFill>
                <a:srgbClr val="C8CCD6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91" name="Google Shape;191;p5"/>
          <p:cNvSpPr txBox="1"/>
          <p:nvPr/>
        </p:nvSpPr>
        <p:spPr>
          <a:xfrm>
            <a:off x="7772400" y="3840480"/>
            <a:ext cx="393192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C8CCD6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✦  로컬 파일 시스템</a:t>
            </a:r>
            <a:endParaRPr sz="1400" b="0" i="0" u="none" strike="noStrike" cap="none">
              <a:solidFill>
                <a:srgbClr val="C8CCD6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92" name="Google Shape;192;p5"/>
          <p:cNvSpPr txBox="1"/>
          <p:nvPr/>
        </p:nvSpPr>
        <p:spPr>
          <a:xfrm>
            <a:off x="7772400" y="4343400"/>
            <a:ext cx="393192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C8CCD6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✦  메시지 · 이메일</a:t>
            </a:r>
            <a:endParaRPr sz="1400" b="0" i="0" u="none" strike="noStrike" cap="none">
              <a:solidFill>
                <a:srgbClr val="C8CCD6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6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E94F37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98" name="Google Shape;198;p6"/>
          <p:cNvSpPr txBox="1"/>
          <p:nvPr/>
        </p:nvSpPr>
        <p:spPr>
          <a:xfrm>
            <a:off x="11548872" y="6492240"/>
            <a:ext cx="457200" cy="27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C8CCD6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7</a:t>
            </a:r>
            <a:endParaRPr sz="1200" b="0" i="0" u="none" strike="noStrike" cap="none">
              <a:solidFill>
                <a:srgbClr val="C8CCD6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99" name="Google Shape;199;p6"/>
          <p:cNvSpPr txBox="1"/>
          <p:nvPr/>
        </p:nvSpPr>
        <p:spPr>
          <a:xfrm>
            <a:off x="548640" y="320040"/>
            <a:ext cx="457200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E94F3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03  |  Tech Trend</a:t>
            </a:r>
            <a:endParaRPr sz="1300" b="0" i="0" u="none" strike="noStrike" cap="none">
              <a:solidFill>
                <a:srgbClr val="E94F37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00" name="Google Shape;200;p6"/>
          <p:cNvSpPr txBox="1"/>
          <p:nvPr/>
        </p:nvSpPr>
        <p:spPr>
          <a:xfrm>
            <a:off x="548640" y="731520"/>
            <a:ext cx="109728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cap="none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전통적 AI  vs  MCP 기반 AI</a:t>
            </a:r>
            <a:endParaRPr sz="3200" b="1" i="0" u="none" strike="noStrike" cap="none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01" name="Google Shape;201;p6"/>
          <p:cNvSpPr/>
          <p:nvPr/>
        </p:nvSpPr>
        <p:spPr>
          <a:xfrm>
            <a:off x="365760" y="1600200"/>
            <a:ext cx="5394960" cy="4846320"/>
          </a:xfrm>
          <a:prstGeom prst="rect">
            <a:avLst/>
          </a:prstGeom>
          <a:solidFill>
            <a:srgbClr val="16213E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02" name="Google Shape;202;p6"/>
          <p:cNvSpPr/>
          <p:nvPr/>
        </p:nvSpPr>
        <p:spPr>
          <a:xfrm>
            <a:off x="365760" y="1600200"/>
            <a:ext cx="5394960" cy="502920"/>
          </a:xfrm>
          <a:prstGeom prst="rect">
            <a:avLst/>
          </a:prstGeom>
          <a:solidFill>
            <a:srgbClr val="78909C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03" name="Google Shape;203;p6"/>
          <p:cNvSpPr txBox="1"/>
          <p:nvPr/>
        </p:nvSpPr>
        <p:spPr>
          <a:xfrm>
            <a:off x="457200" y="1627632"/>
            <a:ext cx="5212080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AS-IS  |  전통적 AI</a:t>
            </a:r>
            <a:endParaRPr sz="1700" b="1" i="0" u="none" strike="noStrike" cap="none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04" name="Google Shape;204;p6"/>
          <p:cNvSpPr txBox="1"/>
          <p:nvPr/>
        </p:nvSpPr>
        <p:spPr>
          <a:xfrm>
            <a:off x="548640" y="2240280"/>
            <a:ext cx="5029200" cy="3931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C8CCD6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기관: 귀(Input) + 입(Output)</a:t>
            </a:r>
            <a:endParaRPr sz="1400" b="0">
              <a:solidFill>
                <a:srgbClr val="C8CCD6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>
                <a:solidFill>
                  <a:srgbClr val="C8CCD6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「입과 귀만 있는 상담사」</a:t>
            </a:r>
            <a:endParaRPr sz="1400" b="0">
              <a:solidFill>
                <a:srgbClr val="C8CCD6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>
                <a:solidFill>
                  <a:srgbClr val="C8CCD6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사용자가 정보를 직접 복사·붙여넣기해야 함</a:t>
            </a:r>
            <a:endParaRPr sz="1400" b="0">
              <a:solidFill>
                <a:srgbClr val="C8CCD6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>
                <a:solidFill>
                  <a:srgbClr val="C8CCD6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AI는 눈이 없어서 외부 데이터를 못 봄</a:t>
            </a:r>
            <a:endParaRPr sz="1400" b="0">
              <a:solidFill>
                <a:srgbClr val="C8CCD6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>
                <a:solidFill>
                  <a:srgbClr val="C8CCD6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손이 없어서 직접 행동 불가</a:t>
            </a:r>
            <a:endParaRPr sz="1400" b="0">
              <a:solidFill>
                <a:srgbClr val="C8CCD6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>
                <a:solidFill>
                  <a:srgbClr val="C8CCD6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→ 수동적 지능</a:t>
            </a:r>
            <a:endParaRPr sz="1400" b="0">
              <a:solidFill>
                <a:srgbClr val="C8CCD6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>
                <a:solidFill>
                  <a:srgbClr val="C8CCD6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   (말만 잘하는 가두리 양식장 속 천재)</a:t>
            </a:r>
            <a:endParaRPr sz="1400" b="0">
              <a:solidFill>
                <a:srgbClr val="C8CCD6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05" name="Google Shape;205;p6"/>
          <p:cNvSpPr/>
          <p:nvPr/>
        </p:nvSpPr>
        <p:spPr>
          <a:xfrm>
            <a:off x="6035040" y="1600200"/>
            <a:ext cx="5806440" cy="4846320"/>
          </a:xfrm>
          <a:prstGeom prst="rect">
            <a:avLst/>
          </a:prstGeom>
          <a:solidFill>
            <a:srgbClr val="16213E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06" name="Google Shape;206;p6"/>
          <p:cNvSpPr/>
          <p:nvPr/>
        </p:nvSpPr>
        <p:spPr>
          <a:xfrm>
            <a:off x="6035040" y="1600200"/>
            <a:ext cx="5806440" cy="502920"/>
          </a:xfrm>
          <a:prstGeom prst="rect">
            <a:avLst/>
          </a:prstGeom>
          <a:solidFill>
            <a:srgbClr val="E94F37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07" name="Google Shape;207;p6"/>
          <p:cNvSpPr txBox="1"/>
          <p:nvPr/>
        </p:nvSpPr>
        <p:spPr>
          <a:xfrm>
            <a:off x="6126480" y="1627632"/>
            <a:ext cx="5577840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1" i="0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TO-BE  |  MCP 기반 AI</a:t>
            </a:r>
            <a:endParaRPr sz="1700" b="1" i="0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08" name="Google Shape;208;p6"/>
          <p:cNvSpPr txBox="1"/>
          <p:nvPr/>
        </p:nvSpPr>
        <p:spPr>
          <a:xfrm>
            <a:off x="6217920" y="2240280"/>
            <a:ext cx="5394960" cy="3931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기관: 귀/입 + 눈(Context) + 손(Action)</a:t>
            </a:r>
            <a:endParaRPr sz="1400" b="0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「감각과 팔이 달린 행동대장」</a:t>
            </a:r>
            <a:endParaRPr sz="1400" b="0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눈(Data Retrieval): 문서·DB·웹을 직접 봄</a:t>
            </a:r>
            <a:endParaRPr sz="1400" b="0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손(Tool Use): 코드 수정, 파일 생성, 메시지 발송</a:t>
            </a:r>
            <a:endParaRPr sz="1400" b="0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팔을 문어발처럼 여러 개 장착 가능</a:t>
            </a:r>
            <a:endParaRPr sz="1400" b="0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  (GitHub 팔 / Slack 팔 / DB 팔 …)</a:t>
            </a:r>
            <a:endParaRPr sz="1400" b="0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→ 능동적 지능</a:t>
            </a:r>
            <a:endParaRPr sz="1400" b="0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   (도구를 자유자재로 다루는 만능 기술자)</a:t>
            </a:r>
            <a:endParaRPr sz="1400" b="0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09" name="Google Shape;209;p6"/>
          <p:cNvSpPr/>
          <p:nvPr/>
        </p:nvSpPr>
        <p:spPr>
          <a:xfrm>
            <a:off x="5486400" y="3383280"/>
            <a:ext cx="548640" cy="548640"/>
          </a:xfrm>
          <a:prstGeom prst="rect">
            <a:avLst/>
          </a:prstGeom>
          <a:solidFill>
            <a:srgbClr val="E94F37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10" name="Google Shape;210;p6"/>
          <p:cNvSpPr txBox="1"/>
          <p:nvPr/>
        </p:nvSpPr>
        <p:spPr>
          <a:xfrm>
            <a:off x="5486400" y="3478754"/>
            <a:ext cx="5487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1" i="0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VS</a:t>
            </a:r>
            <a:endParaRPr sz="1700" b="1" i="0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3e0a97489a0_0_3"/>
          <p:cNvSpPr/>
          <p:nvPr/>
        </p:nvSpPr>
        <p:spPr>
          <a:xfrm>
            <a:off x="0" y="0"/>
            <a:ext cx="12189000" cy="73200"/>
          </a:xfrm>
          <a:prstGeom prst="rect">
            <a:avLst/>
          </a:prstGeom>
          <a:solidFill>
            <a:srgbClr val="E94F37"/>
          </a:solidFill>
          <a:ln>
            <a:noFill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16" name="Google Shape;216;g3e0a97489a0_0_3"/>
          <p:cNvSpPr txBox="1"/>
          <p:nvPr/>
        </p:nvSpPr>
        <p:spPr>
          <a:xfrm>
            <a:off x="11548872" y="6492240"/>
            <a:ext cx="457200" cy="27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C8CCD6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8</a:t>
            </a:r>
            <a:endParaRPr sz="1200" b="0" i="0">
              <a:solidFill>
                <a:srgbClr val="C8CCD6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17" name="Google Shape;217;g3e0a97489a0_0_3"/>
          <p:cNvSpPr txBox="1"/>
          <p:nvPr/>
        </p:nvSpPr>
        <p:spPr>
          <a:xfrm>
            <a:off x="548640" y="320040"/>
            <a:ext cx="73152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>
                <a:solidFill>
                  <a:srgbClr val="E94F3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0</a:t>
            </a:r>
            <a:r>
              <a:rPr lang="en-US" sz="1300">
                <a:solidFill>
                  <a:srgbClr val="E94F3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3</a:t>
            </a:r>
            <a:r>
              <a:rPr lang="en-US" sz="1300" b="0" i="0">
                <a:solidFill>
                  <a:srgbClr val="E94F3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-1  |  </a:t>
            </a:r>
            <a:r>
              <a:rPr lang="en-US" sz="1300">
                <a:solidFill>
                  <a:srgbClr val="E94F3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이미지로 보는 AI + MCP</a:t>
            </a:r>
            <a:endParaRPr sz="1300" b="0" i="0">
              <a:solidFill>
                <a:srgbClr val="E94F37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pic>
        <p:nvPicPr>
          <p:cNvPr id="218" name="Google Shape;218;g3e0a97489a0_0_3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1010050" y="705775"/>
            <a:ext cx="10287043" cy="5786474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g3e0a97489a0_0_3"/>
          <p:cNvSpPr txBox="1"/>
          <p:nvPr/>
        </p:nvSpPr>
        <p:spPr>
          <a:xfrm>
            <a:off x="5708075" y="4962225"/>
            <a:ext cx="891000" cy="70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400" b="1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AI</a:t>
            </a:r>
            <a:endParaRPr sz="3400" b="1">
              <a:solidFill>
                <a:schemeClr val="lt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7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E94F37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25" name="Google Shape;225;p7"/>
          <p:cNvSpPr txBox="1"/>
          <p:nvPr/>
        </p:nvSpPr>
        <p:spPr>
          <a:xfrm>
            <a:off x="11548872" y="6492240"/>
            <a:ext cx="457200" cy="27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C8CCD6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9</a:t>
            </a:r>
            <a:endParaRPr sz="1200" b="0" i="0">
              <a:solidFill>
                <a:srgbClr val="C8CCD6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26" name="Google Shape;226;p7"/>
          <p:cNvSpPr txBox="1"/>
          <p:nvPr/>
        </p:nvSpPr>
        <p:spPr>
          <a:xfrm>
            <a:off x="548640" y="320040"/>
            <a:ext cx="457200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>
                <a:solidFill>
                  <a:srgbClr val="E94F3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04  |  Vision</a:t>
            </a:r>
            <a:endParaRPr sz="1300" b="0" i="0">
              <a:solidFill>
                <a:srgbClr val="E94F37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27" name="Google Shape;227;p7"/>
          <p:cNvSpPr txBox="1"/>
          <p:nvPr/>
        </p:nvSpPr>
        <p:spPr>
          <a:xfrm>
            <a:off x="548640" y="731520"/>
            <a:ext cx="109728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AI와 MCP가 만나면 가능한 일들</a:t>
            </a:r>
            <a:endParaRPr sz="3200" b="1" i="0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28" name="Google Shape;228;p7"/>
          <p:cNvSpPr txBox="1"/>
          <p:nvPr/>
        </p:nvSpPr>
        <p:spPr>
          <a:xfrm>
            <a:off x="548640" y="137160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1">
                <a:solidFill>
                  <a:srgbClr val="FFD166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"단순히 질문에 답하는 AI를 넘어, 행동하는 AI가 됩니다."</a:t>
            </a:r>
            <a:endParaRPr sz="1600" b="0" i="1">
              <a:solidFill>
                <a:srgbClr val="FFD166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29" name="Google Shape;229;p7"/>
          <p:cNvSpPr/>
          <p:nvPr/>
        </p:nvSpPr>
        <p:spPr>
          <a:xfrm>
            <a:off x="411480" y="2011680"/>
            <a:ext cx="3566160" cy="4389120"/>
          </a:xfrm>
          <a:prstGeom prst="rect">
            <a:avLst/>
          </a:prstGeom>
          <a:solidFill>
            <a:srgbClr val="1A377C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30" name="Google Shape;230;p7"/>
          <p:cNvSpPr txBox="1"/>
          <p:nvPr/>
        </p:nvSpPr>
        <p:spPr>
          <a:xfrm>
            <a:off x="594360" y="2103120"/>
            <a:ext cx="73152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>
                <a:solidFill>
                  <a:srgbClr val="E94F3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01</a:t>
            </a:r>
            <a:endParaRPr sz="2800" b="1" i="0">
              <a:solidFill>
                <a:srgbClr val="E94F37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31" name="Google Shape;231;p7"/>
          <p:cNvSpPr txBox="1"/>
          <p:nvPr/>
        </p:nvSpPr>
        <p:spPr>
          <a:xfrm>
            <a:off x="594360" y="2651760"/>
            <a:ext cx="32004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1" i="0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로컬 데이터 직접 분석</a:t>
            </a:r>
            <a:endParaRPr sz="1700" b="1" i="0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32" name="Google Shape;232;p7"/>
          <p:cNvSpPr txBox="1"/>
          <p:nvPr/>
        </p:nvSpPr>
        <p:spPr>
          <a:xfrm>
            <a:off x="594360" y="3246120"/>
            <a:ext cx="3291840" cy="27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>
                <a:solidFill>
                  <a:srgbClr val="C8CCD6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AI가 내 컴퓨터의 소스 코드를 읽고</a:t>
            </a:r>
            <a:br>
              <a:rPr lang="en-US" sz="1300" b="0" i="0">
                <a:solidFill>
                  <a:srgbClr val="C8CCD6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</a:br>
            <a:r>
              <a:rPr lang="en-US" sz="1300" b="0" i="0">
                <a:solidFill>
                  <a:srgbClr val="C8CCD6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버그를 직접 수정하거나 문서를 작성합니다.</a:t>
            </a:r>
            <a:endParaRPr sz="1300" b="0" i="0">
              <a:solidFill>
                <a:srgbClr val="C8CCD6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33" name="Google Shape;233;p7"/>
          <p:cNvSpPr/>
          <p:nvPr/>
        </p:nvSpPr>
        <p:spPr>
          <a:xfrm>
            <a:off x="4251960" y="2011680"/>
            <a:ext cx="3566160" cy="4389120"/>
          </a:xfrm>
          <a:prstGeom prst="rect">
            <a:avLst/>
          </a:prstGeom>
          <a:solidFill>
            <a:srgbClr val="4A1442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34" name="Google Shape;234;p7"/>
          <p:cNvSpPr txBox="1"/>
          <p:nvPr/>
        </p:nvSpPr>
        <p:spPr>
          <a:xfrm>
            <a:off x="4434840" y="2103120"/>
            <a:ext cx="73152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>
                <a:solidFill>
                  <a:srgbClr val="E94F3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02</a:t>
            </a:r>
            <a:endParaRPr sz="2800" b="1" i="0">
              <a:solidFill>
                <a:srgbClr val="E94F37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35" name="Google Shape;235;p7"/>
          <p:cNvSpPr txBox="1"/>
          <p:nvPr/>
        </p:nvSpPr>
        <p:spPr>
          <a:xfrm>
            <a:off x="4434840" y="2651760"/>
            <a:ext cx="32004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1" i="0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실시간 데이터 연동</a:t>
            </a:r>
            <a:endParaRPr sz="1700" b="1" i="0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36" name="Google Shape;236;p7"/>
          <p:cNvSpPr txBox="1"/>
          <p:nvPr/>
        </p:nvSpPr>
        <p:spPr>
          <a:xfrm>
            <a:off x="4434840" y="3246120"/>
            <a:ext cx="3291840" cy="27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>
                <a:solidFill>
                  <a:srgbClr val="C8CCD6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Google Drive · Slack · GitHub와 직접 연결</a:t>
            </a:r>
            <a:br>
              <a:rPr lang="en-US" sz="1300" b="0" i="0">
                <a:solidFill>
                  <a:srgbClr val="C8CCD6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</a:br>
            <a:r>
              <a:rPr lang="en-US" sz="1300" b="0" i="0">
                <a:solidFill>
                  <a:srgbClr val="C8CCD6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"지난주 슬랙 내용 정리해서 깃허브 이슈로 등록해줘"</a:t>
            </a:r>
            <a:endParaRPr sz="1300" b="0" i="0">
              <a:solidFill>
                <a:srgbClr val="C8CCD6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37" name="Google Shape;237;p7"/>
          <p:cNvSpPr/>
          <p:nvPr/>
        </p:nvSpPr>
        <p:spPr>
          <a:xfrm>
            <a:off x="8092440" y="2011680"/>
            <a:ext cx="3566160" cy="4389120"/>
          </a:xfrm>
          <a:prstGeom prst="rect">
            <a:avLst/>
          </a:prstGeom>
          <a:solidFill>
            <a:srgbClr val="1A4D3A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38" name="Google Shape;238;p7"/>
          <p:cNvSpPr txBox="1"/>
          <p:nvPr/>
        </p:nvSpPr>
        <p:spPr>
          <a:xfrm>
            <a:off x="8275320" y="2103120"/>
            <a:ext cx="73152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>
                <a:solidFill>
                  <a:srgbClr val="E94F3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03</a:t>
            </a:r>
            <a:endParaRPr sz="2800" b="1" i="0">
              <a:solidFill>
                <a:srgbClr val="E94F37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39" name="Google Shape;239;p7"/>
          <p:cNvSpPr txBox="1"/>
          <p:nvPr/>
        </p:nvSpPr>
        <p:spPr>
          <a:xfrm>
            <a:off x="8275320" y="2651760"/>
            <a:ext cx="32004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1" i="0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커스텀 툴 활용</a:t>
            </a:r>
            <a:endParaRPr sz="1700" b="1" i="0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40" name="Google Shape;240;p7"/>
          <p:cNvSpPr txBox="1"/>
          <p:nvPr/>
        </p:nvSpPr>
        <p:spPr>
          <a:xfrm>
            <a:off x="8275320" y="3246120"/>
            <a:ext cx="3291840" cy="27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>
                <a:solidFill>
                  <a:srgbClr val="C8CCD6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내가 만든 DB(Redis, SQL)를 AI에게 도구로 쥐여주고</a:t>
            </a:r>
            <a:br>
              <a:rPr lang="en-US" sz="1300" b="0" i="0">
                <a:solidFill>
                  <a:srgbClr val="C8CCD6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</a:br>
            <a:r>
              <a:rPr lang="en-US" sz="1300" b="0" i="0">
                <a:solidFill>
                  <a:srgbClr val="C8CCD6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자연어로 데이터를 조회·수정합니다.</a:t>
            </a:r>
            <a:endParaRPr sz="1300" b="0" i="0">
              <a:solidFill>
                <a:srgbClr val="C8CCD6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8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E94F37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46" name="Google Shape;246;p8"/>
          <p:cNvSpPr txBox="1"/>
          <p:nvPr/>
        </p:nvSpPr>
        <p:spPr>
          <a:xfrm>
            <a:off x="11548872" y="6492240"/>
            <a:ext cx="457200" cy="27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C8CCD6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10</a:t>
            </a:r>
            <a:endParaRPr sz="1200" b="0" i="0">
              <a:solidFill>
                <a:srgbClr val="C8CCD6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47" name="Google Shape;247;p8"/>
          <p:cNvSpPr txBox="1"/>
          <p:nvPr/>
        </p:nvSpPr>
        <p:spPr>
          <a:xfrm>
            <a:off x="548640" y="320040"/>
            <a:ext cx="457200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>
                <a:solidFill>
                  <a:srgbClr val="E94F3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04  |  Vision</a:t>
            </a:r>
            <a:endParaRPr sz="1300" b="0" i="0">
              <a:solidFill>
                <a:srgbClr val="E94F37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48" name="Google Shape;248;p8"/>
          <p:cNvSpPr txBox="1"/>
          <p:nvPr/>
        </p:nvSpPr>
        <p:spPr>
          <a:xfrm>
            <a:off x="548640" y="731520"/>
            <a:ext cx="109728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우리가 이미 쓰고 있는 AI 툴들도 AI + MCP</a:t>
            </a:r>
            <a:endParaRPr sz="3000" b="1" i="0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49" name="Google Shape;249;p8"/>
          <p:cNvSpPr/>
          <p:nvPr/>
        </p:nvSpPr>
        <p:spPr>
          <a:xfrm>
            <a:off x="411480" y="1828800"/>
            <a:ext cx="2651760" cy="4114800"/>
          </a:xfrm>
          <a:prstGeom prst="rect">
            <a:avLst/>
          </a:prstGeom>
          <a:solidFill>
            <a:srgbClr val="393E46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50" name="Google Shape;250;p8"/>
          <p:cNvSpPr/>
          <p:nvPr/>
        </p:nvSpPr>
        <p:spPr>
          <a:xfrm>
            <a:off x="411480" y="1828800"/>
            <a:ext cx="2651760" cy="502920"/>
          </a:xfrm>
          <a:prstGeom prst="rect">
            <a:avLst/>
          </a:prstGeom>
          <a:solidFill>
            <a:srgbClr val="00BFFF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51" name="Google Shape;251;p8"/>
          <p:cNvSpPr txBox="1"/>
          <p:nvPr/>
        </p:nvSpPr>
        <p:spPr>
          <a:xfrm>
            <a:off x="502920" y="1847088"/>
            <a:ext cx="246888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>
                <a:solidFill>
                  <a:srgbClr val="1A1A2E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Cursor</a:t>
            </a:r>
            <a:endParaRPr sz="1600" b="1" i="0">
              <a:solidFill>
                <a:srgbClr val="1A1A2E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52" name="Google Shape;252;p8"/>
          <p:cNvSpPr txBox="1"/>
          <p:nvPr/>
        </p:nvSpPr>
        <p:spPr>
          <a:xfrm>
            <a:off x="521208" y="2423160"/>
            <a:ext cx="2423160" cy="3108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IDE 통합 AI 코드 에디터</a:t>
            </a:r>
            <a:br>
              <a:rPr lang="en-US" sz="1300" b="0" i="0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</a:br>
            <a:r>
              <a:rPr lang="en-US" sz="1300" b="0" i="0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MCP로 코드베이스 직접 조작</a:t>
            </a:r>
            <a:endParaRPr sz="1300" b="0" i="0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53" name="Google Shape;253;p8"/>
          <p:cNvSpPr/>
          <p:nvPr/>
        </p:nvSpPr>
        <p:spPr>
          <a:xfrm>
            <a:off x="3291840" y="1828800"/>
            <a:ext cx="2651760" cy="4114800"/>
          </a:xfrm>
          <a:prstGeom prst="rect">
            <a:avLst/>
          </a:prstGeom>
          <a:solidFill>
            <a:srgbClr val="393E46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54" name="Google Shape;254;p8"/>
          <p:cNvSpPr/>
          <p:nvPr/>
        </p:nvSpPr>
        <p:spPr>
          <a:xfrm>
            <a:off x="3291840" y="1828800"/>
            <a:ext cx="2651760" cy="502920"/>
          </a:xfrm>
          <a:prstGeom prst="rect">
            <a:avLst/>
          </a:prstGeom>
          <a:solidFill>
            <a:srgbClr val="E94F37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55" name="Google Shape;255;p8"/>
          <p:cNvSpPr txBox="1"/>
          <p:nvPr/>
        </p:nvSpPr>
        <p:spPr>
          <a:xfrm>
            <a:off x="3383280" y="1847088"/>
            <a:ext cx="246888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>
                <a:solidFill>
                  <a:srgbClr val="1A1A2E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Claude</a:t>
            </a:r>
            <a:endParaRPr sz="1600" b="1" i="0">
              <a:solidFill>
                <a:srgbClr val="1A1A2E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56" name="Google Shape;256;p8"/>
          <p:cNvSpPr txBox="1"/>
          <p:nvPr/>
        </p:nvSpPr>
        <p:spPr>
          <a:xfrm>
            <a:off x="3401568" y="2423160"/>
            <a:ext cx="2423160" cy="3108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Anthropic의 AI 어시스턴트</a:t>
            </a:r>
            <a:br>
              <a:rPr lang="en-US" sz="1300" b="0" i="0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</a:br>
            <a:r>
              <a:rPr lang="en-US" sz="1300" b="0" i="0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MCP로 파일·DB·API 연결</a:t>
            </a:r>
            <a:endParaRPr sz="1300" b="0" i="0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57" name="Google Shape;257;p8"/>
          <p:cNvSpPr/>
          <p:nvPr/>
        </p:nvSpPr>
        <p:spPr>
          <a:xfrm>
            <a:off x="6172200" y="1828800"/>
            <a:ext cx="2651760" cy="4114800"/>
          </a:xfrm>
          <a:prstGeom prst="rect">
            <a:avLst/>
          </a:prstGeom>
          <a:solidFill>
            <a:srgbClr val="393E46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58" name="Google Shape;258;p8"/>
          <p:cNvSpPr/>
          <p:nvPr/>
        </p:nvSpPr>
        <p:spPr>
          <a:xfrm>
            <a:off x="6172200" y="1828800"/>
            <a:ext cx="2651760" cy="502920"/>
          </a:xfrm>
          <a:prstGeom prst="rect">
            <a:avLst/>
          </a:prstGeom>
          <a:solidFill>
            <a:srgbClr val="74AA9C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59" name="Google Shape;259;p8"/>
          <p:cNvSpPr txBox="1"/>
          <p:nvPr/>
        </p:nvSpPr>
        <p:spPr>
          <a:xfrm>
            <a:off x="6263640" y="1847088"/>
            <a:ext cx="246888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>
                <a:solidFill>
                  <a:srgbClr val="1A1A2E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ChatGPT</a:t>
            </a:r>
            <a:endParaRPr sz="1600" b="1" i="0">
              <a:solidFill>
                <a:srgbClr val="1A1A2E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60" name="Google Shape;260;p8"/>
          <p:cNvSpPr txBox="1"/>
          <p:nvPr/>
        </p:nvSpPr>
        <p:spPr>
          <a:xfrm>
            <a:off x="6281928" y="2423160"/>
            <a:ext cx="2423160" cy="3108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OpenAI의 AI 챗봇</a:t>
            </a:r>
            <a:br>
              <a:rPr lang="en-US" sz="1300" b="0" i="0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</a:br>
            <a:r>
              <a:rPr lang="en-US" sz="1300" b="0" i="0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Plugins / GPTs = MCP 개념</a:t>
            </a:r>
            <a:endParaRPr sz="1300" b="0" i="0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61" name="Google Shape;261;p8"/>
          <p:cNvSpPr/>
          <p:nvPr/>
        </p:nvSpPr>
        <p:spPr>
          <a:xfrm>
            <a:off x="9052560" y="1828800"/>
            <a:ext cx="2651760" cy="4114800"/>
          </a:xfrm>
          <a:prstGeom prst="rect">
            <a:avLst/>
          </a:prstGeom>
          <a:solidFill>
            <a:srgbClr val="393E46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62" name="Google Shape;262;p8"/>
          <p:cNvSpPr/>
          <p:nvPr/>
        </p:nvSpPr>
        <p:spPr>
          <a:xfrm>
            <a:off x="9052560" y="1828800"/>
            <a:ext cx="2651760" cy="502920"/>
          </a:xfrm>
          <a:prstGeom prst="rect">
            <a:avLst/>
          </a:prstGeom>
          <a:solidFill>
            <a:srgbClr val="4285F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63" name="Google Shape;263;p8"/>
          <p:cNvSpPr txBox="1"/>
          <p:nvPr/>
        </p:nvSpPr>
        <p:spPr>
          <a:xfrm>
            <a:off x="9144000" y="1847088"/>
            <a:ext cx="246888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>
                <a:solidFill>
                  <a:srgbClr val="1A1A2E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Gemini</a:t>
            </a:r>
            <a:endParaRPr sz="1600" b="1" i="0">
              <a:solidFill>
                <a:srgbClr val="1A1A2E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64" name="Google Shape;264;p8"/>
          <p:cNvSpPr txBox="1"/>
          <p:nvPr/>
        </p:nvSpPr>
        <p:spPr>
          <a:xfrm>
            <a:off x="9162288" y="2423160"/>
            <a:ext cx="2423160" cy="3108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Google의 AI 어시스턴트</a:t>
            </a:r>
            <a:br>
              <a:rPr lang="en-US" sz="1300" b="0" i="0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</a:br>
            <a:r>
              <a:rPr lang="en-US" sz="1300" b="0" i="0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Google 생태계와 MCP 통합</a:t>
            </a:r>
            <a:endParaRPr sz="1300" b="0" i="0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65" name="Google Shape;265;p8"/>
          <p:cNvSpPr/>
          <p:nvPr/>
        </p:nvSpPr>
        <p:spPr>
          <a:xfrm>
            <a:off x="548640" y="5989320"/>
            <a:ext cx="11064240" cy="640080"/>
          </a:xfrm>
          <a:prstGeom prst="rect">
            <a:avLst/>
          </a:prstGeom>
          <a:solidFill>
            <a:srgbClr val="16213E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66" name="Google Shape;266;p8"/>
          <p:cNvSpPr txBox="1"/>
          <p:nvPr/>
        </p:nvSpPr>
        <p:spPr>
          <a:xfrm>
            <a:off x="731520" y="6035040"/>
            <a:ext cx="1069848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>
                <a:solidFill>
                  <a:srgbClr val="FFD166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공통점: 모두 'AI 두뇌 + MCP(외부 도구 연결)'의 결합체입니다.</a:t>
            </a:r>
            <a:endParaRPr sz="1600" b="1" i="0">
              <a:solidFill>
                <a:srgbClr val="FFD166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9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E94F37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72" name="Google Shape;272;p9"/>
          <p:cNvSpPr txBox="1"/>
          <p:nvPr/>
        </p:nvSpPr>
        <p:spPr>
          <a:xfrm>
            <a:off x="11548872" y="6492240"/>
            <a:ext cx="457200" cy="27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C8CCD6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11</a:t>
            </a:r>
            <a:endParaRPr sz="1200" b="0" i="0">
              <a:solidFill>
                <a:srgbClr val="C8CCD6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73" name="Google Shape;273;p9"/>
          <p:cNvSpPr txBox="1"/>
          <p:nvPr/>
        </p:nvSpPr>
        <p:spPr>
          <a:xfrm>
            <a:off x="548640" y="320040"/>
            <a:ext cx="731520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>
                <a:solidFill>
                  <a:srgbClr val="E94F3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04  |  Vision  /  실전 사례</a:t>
            </a:r>
            <a:endParaRPr sz="1300" b="0" i="0">
              <a:solidFill>
                <a:srgbClr val="E94F37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74" name="Google Shape;274;p9"/>
          <p:cNvSpPr txBox="1"/>
          <p:nvPr/>
        </p:nvSpPr>
        <p:spPr>
          <a:xfrm>
            <a:off x="548640" y="731520"/>
            <a:ext cx="109728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입만 살아있는 AI?  아니, 행동하는 AI!</a:t>
            </a:r>
            <a:endParaRPr sz="3000" b="1" i="0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75" name="Google Shape;275;p9"/>
          <p:cNvSpPr/>
          <p:nvPr/>
        </p:nvSpPr>
        <p:spPr>
          <a:xfrm>
            <a:off x="365760" y="1600200"/>
            <a:ext cx="5394960" cy="4572000"/>
          </a:xfrm>
          <a:prstGeom prst="rect">
            <a:avLst/>
          </a:prstGeom>
          <a:solidFill>
            <a:srgbClr val="16213E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76" name="Google Shape;276;p9"/>
          <p:cNvSpPr/>
          <p:nvPr/>
        </p:nvSpPr>
        <p:spPr>
          <a:xfrm>
            <a:off x="365760" y="1600200"/>
            <a:ext cx="5394960" cy="457200"/>
          </a:xfrm>
          <a:prstGeom prst="rect">
            <a:avLst/>
          </a:prstGeom>
          <a:solidFill>
            <a:srgbClr val="78909C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77" name="Google Shape;277;p9"/>
          <p:cNvSpPr txBox="1"/>
          <p:nvPr/>
        </p:nvSpPr>
        <p:spPr>
          <a:xfrm>
            <a:off x="457200" y="1627632"/>
            <a:ext cx="5212080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전통적 방식 (수동)</a:t>
            </a:r>
            <a:endParaRPr sz="1600" b="1" i="0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78" name="Google Shape;278;p9"/>
          <p:cNvSpPr txBox="1"/>
          <p:nvPr/>
        </p:nvSpPr>
        <p:spPr>
          <a:xfrm>
            <a:off x="548640" y="2194560"/>
            <a:ext cx="5029200" cy="3566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>
                <a:solidFill>
                  <a:srgbClr val="C8CCD6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1. SQLite에서 엑셀로 내보내기</a:t>
            </a:r>
            <a:endParaRPr sz="1400" b="0">
              <a:solidFill>
                <a:srgbClr val="C8CCD6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>
                <a:solidFill>
                  <a:srgbClr val="C8CCD6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2. 엑셀 내용을 복사</a:t>
            </a:r>
            <a:endParaRPr sz="1400" b="0">
              <a:solidFill>
                <a:srgbClr val="C8CCD6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>
                <a:solidFill>
                  <a:srgbClr val="C8CCD6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3. Claude 채팅창에 붙여넣기</a:t>
            </a:r>
            <a:endParaRPr sz="1400" b="0">
              <a:solidFill>
                <a:srgbClr val="C8CCD6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>
                <a:solidFill>
                  <a:srgbClr val="C8CCD6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4. '분석해줘' 요청</a:t>
            </a:r>
            <a:endParaRPr sz="1400" b="0">
              <a:solidFill>
                <a:srgbClr val="C8CCD6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>
                <a:solidFill>
                  <a:srgbClr val="C8CCD6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→ 매번 사람이 직접 데이터를 '귀에 대고 읽어줘야' 함</a:t>
            </a:r>
            <a:endParaRPr sz="1400" b="0">
              <a:solidFill>
                <a:srgbClr val="C8CCD6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>
                <a:solidFill>
                  <a:srgbClr val="C8CCD6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→ 대용량 데이터는 사실상 불가능</a:t>
            </a:r>
            <a:endParaRPr sz="1400" b="0">
              <a:solidFill>
                <a:srgbClr val="C8CCD6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79" name="Google Shape;279;p9"/>
          <p:cNvSpPr/>
          <p:nvPr/>
        </p:nvSpPr>
        <p:spPr>
          <a:xfrm>
            <a:off x="6126480" y="1600200"/>
            <a:ext cx="5669400" cy="4572000"/>
          </a:xfrm>
          <a:prstGeom prst="rect">
            <a:avLst/>
          </a:prstGeom>
          <a:solidFill>
            <a:srgbClr val="16213E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80" name="Google Shape;280;p9"/>
          <p:cNvSpPr/>
          <p:nvPr/>
        </p:nvSpPr>
        <p:spPr>
          <a:xfrm>
            <a:off x="6126480" y="1600200"/>
            <a:ext cx="5669280" cy="457200"/>
          </a:xfrm>
          <a:prstGeom prst="rect">
            <a:avLst/>
          </a:prstGeom>
          <a:solidFill>
            <a:srgbClr val="E94F37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81" name="Google Shape;281;p9"/>
          <p:cNvSpPr txBox="1"/>
          <p:nvPr/>
        </p:nvSpPr>
        <p:spPr>
          <a:xfrm>
            <a:off x="6217920" y="1627632"/>
            <a:ext cx="5394960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MCP 방식 (자동·지능적)</a:t>
            </a:r>
            <a:endParaRPr sz="1600" b="1" i="0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82" name="Google Shape;282;p9"/>
          <p:cNvSpPr txBox="1"/>
          <p:nvPr/>
        </p:nvSpPr>
        <p:spPr>
          <a:xfrm>
            <a:off x="6309360" y="2194560"/>
            <a:ext cx="5303520" cy="3566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눈 (Context): Claude가 SQLite를 직접 '봄'</a:t>
            </a:r>
            <a:endParaRPr sz="1400" b="0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손 (Action):</a:t>
            </a:r>
            <a:endParaRPr sz="1400" b="0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  "지난달 결제금액 10만원 이상인 사람만</a:t>
            </a:r>
            <a:endParaRPr sz="1400" b="0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  별도 테이블에 저장해줘"</a:t>
            </a:r>
            <a:endParaRPr sz="1400" b="0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  → Claude가 SQL 쿼리를 직접 작성·실행</a:t>
            </a:r>
            <a:endParaRPr sz="1400" b="0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→ 개발자가 DB 툴을 켜지 않아도</a:t>
            </a:r>
            <a:endParaRPr sz="1400" b="0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  AI가 전문 데이터 관리자처럼 행동</a:t>
            </a:r>
            <a:endParaRPr sz="1400" b="0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83" name="Google Shape;283;p9"/>
          <p:cNvSpPr/>
          <p:nvPr/>
        </p:nvSpPr>
        <p:spPr>
          <a:xfrm>
            <a:off x="5660716" y="3291840"/>
            <a:ext cx="548700" cy="548700"/>
          </a:xfrm>
          <a:prstGeom prst="rect">
            <a:avLst/>
          </a:prstGeom>
          <a:solidFill>
            <a:srgbClr val="E94F37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84" name="Google Shape;284;p9"/>
          <p:cNvSpPr txBox="1"/>
          <p:nvPr/>
        </p:nvSpPr>
        <p:spPr>
          <a:xfrm>
            <a:off x="5650357" y="3361926"/>
            <a:ext cx="5487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→</a:t>
            </a:r>
            <a:endParaRPr sz="2000" b="1" i="0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g3e0a97489a0_0_21"/>
          <p:cNvSpPr/>
          <p:nvPr/>
        </p:nvSpPr>
        <p:spPr>
          <a:xfrm>
            <a:off x="0" y="0"/>
            <a:ext cx="12189000" cy="73200"/>
          </a:xfrm>
          <a:prstGeom prst="rect">
            <a:avLst/>
          </a:prstGeom>
          <a:solidFill>
            <a:srgbClr val="E94F37"/>
          </a:solidFill>
          <a:ln>
            <a:noFill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90" name="Google Shape;290;g3e0a97489a0_0_21"/>
          <p:cNvSpPr txBox="1"/>
          <p:nvPr/>
        </p:nvSpPr>
        <p:spPr>
          <a:xfrm>
            <a:off x="11548872" y="6492240"/>
            <a:ext cx="457200" cy="27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C8CCD6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12</a:t>
            </a:r>
            <a:endParaRPr sz="1200" b="0" i="0">
              <a:solidFill>
                <a:srgbClr val="C8CCD6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91" name="Google Shape;291;g3e0a97489a0_0_21"/>
          <p:cNvSpPr txBox="1"/>
          <p:nvPr/>
        </p:nvSpPr>
        <p:spPr>
          <a:xfrm>
            <a:off x="548640" y="320040"/>
            <a:ext cx="73152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>
                <a:solidFill>
                  <a:srgbClr val="E94F3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0</a:t>
            </a:r>
            <a:r>
              <a:rPr lang="en-US" sz="1300">
                <a:solidFill>
                  <a:srgbClr val="E94F3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5</a:t>
            </a:r>
            <a:r>
              <a:rPr lang="en-US" sz="1300" b="0" i="0">
                <a:solidFill>
                  <a:srgbClr val="E94F3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  | </a:t>
            </a:r>
            <a:r>
              <a:rPr lang="en-US" sz="1300">
                <a:solidFill>
                  <a:srgbClr val="E94F3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MCP 는 기능?</a:t>
            </a:r>
            <a:endParaRPr sz="1300" b="0" i="0">
              <a:solidFill>
                <a:srgbClr val="E94F37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92" name="Google Shape;292;g3e0a97489a0_0_21"/>
          <p:cNvSpPr txBox="1"/>
          <p:nvPr/>
        </p:nvSpPr>
        <p:spPr>
          <a:xfrm>
            <a:off x="663000" y="911625"/>
            <a:ext cx="10805100" cy="548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lt1"/>
                </a:solidFill>
              </a:rPr>
              <a:t>이쯤에서 많은 분이 "Google Sheets MCP"라고 하면 그 자체가 하나의 독립된 프로그램이라고 생각하기 쉽지만, </a:t>
            </a:r>
            <a:endParaRPr>
              <a:solidFill>
                <a:schemeClr val="lt1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lt1"/>
                </a:solidFill>
              </a:rPr>
              <a:t>사실</a:t>
            </a:r>
            <a:r>
              <a:rPr lang="en-US" b="1" u="sng">
                <a:solidFill>
                  <a:schemeClr val="lt1"/>
                </a:solidFill>
              </a:rPr>
              <a:t> MCP는 '데이터와 기능을 주고받는 통로의 규격'</a:t>
            </a:r>
            <a:r>
              <a:rPr lang="en-US">
                <a:solidFill>
                  <a:schemeClr val="lt1"/>
                </a:solidFill>
              </a:rPr>
              <a:t>에 가깝습니다.</a:t>
            </a:r>
            <a:endParaRPr>
              <a:solidFill>
                <a:schemeClr val="lt1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>
              <a:solidFill>
                <a:schemeClr val="lt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US" sz="1600" b="1">
                <a:solidFill>
                  <a:schemeClr val="lt1"/>
                </a:solidFill>
              </a:rPr>
              <a:t>MCP는 '기능'이 아니라 '범용 단자(Connector)'입니다.</a:t>
            </a:r>
            <a:endParaRPr sz="1600" b="1">
              <a:solidFill>
                <a:schemeClr val="lt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US">
                <a:solidFill>
                  <a:schemeClr val="lt1"/>
                </a:solidFill>
              </a:rPr>
              <a:t>"기능을 MCP라는 단자를 통해 실현한다"는 핵심은 다음과 같이 세분화.</a:t>
            </a:r>
            <a:endParaRPr>
              <a:solidFill>
                <a:schemeClr val="lt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b="1">
                <a:solidFill>
                  <a:schemeClr val="lt1"/>
                </a:solidFill>
              </a:rPr>
              <a:t>1. 기능을 담은 주체는 '서버' (The Tool)</a:t>
            </a:r>
            <a:endParaRPr b="1">
              <a:solidFill>
                <a:schemeClr val="lt1"/>
              </a:solidFill>
            </a:endParaRPr>
          </a:p>
          <a:p>
            <a:pPr marL="457200" lvl="0" indent="-317500" algn="l" rtl="0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</a:pPr>
            <a:r>
              <a:rPr lang="en-US">
                <a:solidFill>
                  <a:schemeClr val="lt1"/>
                </a:solidFill>
              </a:rPr>
              <a:t>실제로 구글 시트에 글을 쓰거나, SQLite에서 데이터를 가져오는 </a:t>
            </a:r>
            <a:r>
              <a:rPr lang="en-US" b="1">
                <a:solidFill>
                  <a:schemeClr val="lt1"/>
                </a:solidFill>
              </a:rPr>
              <a:t>구체적인 행동</a:t>
            </a:r>
            <a:r>
              <a:rPr lang="en-US">
                <a:solidFill>
                  <a:schemeClr val="lt1"/>
                </a:solidFill>
              </a:rPr>
              <a:t>을 하는 주체는 '서버(Server)'라고 불리는 작은 프로그램들입니다.</a:t>
            </a:r>
            <a:endParaRPr>
              <a:solidFill>
                <a:schemeClr val="lt1"/>
              </a:solidFill>
            </a:endParaRPr>
          </a:p>
          <a:p>
            <a:pPr marL="45720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</a:pPr>
            <a:r>
              <a:rPr lang="en-US">
                <a:solidFill>
                  <a:schemeClr val="lt1"/>
                </a:solidFill>
              </a:rPr>
              <a:t>하지만 이 서버들은 혼자서는 AI와 대화할 줄 모릅니다.</a:t>
            </a:r>
            <a:endParaRPr>
              <a:solidFill>
                <a:schemeClr val="lt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US" b="1">
                <a:solidFill>
                  <a:schemeClr val="lt1"/>
                </a:solidFill>
              </a:rPr>
              <a:t>2. 대화를 이끄는 주체는 'AI 모델' (The Brain)</a:t>
            </a:r>
            <a:endParaRPr b="1">
              <a:solidFill>
                <a:schemeClr val="lt1"/>
              </a:solidFill>
            </a:endParaRPr>
          </a:p>
          <a:p>
            <a:pPr marL="457200" lvl="0" indent="-317500" algn="l" rtl="0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</a:pPr>
            <a:r>
              <a:rPr lang="en-US">
                <a:solidFill>
                  <a:schemeClr val="lt1"/>
                </a:solidFill>
              </a:rPr>
              <a:t>Claude나 ChatGPT 같은 AI는 똑똑하지만, 내 컴퓨터의 파일이나 외부 서비스에 직접 손을 뻗을 수 없습니다.</a:t>
            </a:r>
            <a:endParaRPr>
              <a:solidFill>
                <a:schemeClr val="lt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US" b="1">
                <a:solidFill>
                  <a:schemeClr val="lt1"/>
                </a:solidFill>
              </a:rPr>
              <a:t>3. 이 둘을 연결하는 '표준 규격'이 바로 MCP (The Protocol)</a:t>
            </a:r>
            <a:endParaRPr b="1">
              <a:solidFill>
                <a:schemeClr val="lt1"/>
              </a:solidFill>
            </a:endParaRPr>
          </a:p>
          <a:p>
            <a:pPr marL="457200" lvl="0" indent="-317500" algn="l" rtl="0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</a:pPr>
            <a:r>
              <a:rPr lang="en-US" b="1">
                <a:solidFill>
                  <a:schemeClr val="lt1"/>
                </a:solidFill>
              </a:rPr>
              <a:t>MCP는 AI와 서버가 서로를 알아보고 소통할 수 있게 해주는 '단자 규격'이자 '약속'입니다.</a:t>
            </a:r>
            <a:endParaRPr b="1">
              <a:solidFill>
                <a:schemeClr val="lt1"/>
              </a:solidFill>
            </a:endParaRPr>
          </a:p>
          <a:p>
            <a:pPr marL="45720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</a:pPr>
            <a:r>
              <a:rPr lang="en-US">
                <a:solidFill>
                  <a:schemeClr val="lt1"/>
                </a:solidFill>
              </a:rPr>
              <a:t>과거에는 AI에게 구글 시트 기능을 주려면 전용 케이블을 따로 제작해야 했지만, 이제는 "너도 MCP 단자니? 나도 MCP 단자야. 그럼 일단 꽂아!"가 가능해진 것입니다.</a:t>
            </a:r>
            <a:endParaRPr>
              <a:solidFill>
                <a:schemeClr val="lt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>
                <a:solidFill>
                  <a:schemeClr val="lt1"/>
                </a:solidFill>
              </a:rPr>
              <a:t>물리적으로 비유하면 USB 포트 와같이 USB 2.0, 3.0 버전을 지원하는 마우스,키보드,디스플에이,프린터,스캐너 등등등 을 연결하여 사용가능.</a:t>
            </a: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g3e0a97489a0_0_69"/>
          <p:cNvSpPr/>
          <p:nvPr/>
        </p:nvSpPr>
        <p:spPr>
          <a:xfrm>
            <a:off x="0" y="0"/>
            <a:ext cx="12189000" cy="73200"/>
          </a:xfrm>
          <a:prstGeom prst="rect">
            <a:avLst/>
          </a:prstGeom>
          <a:solidFill>
            <a:srgbClr val="E94F37"/>
          </a:solidFill>
          <a:ln>
            <a:noFill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98" name="Google Shape;298;g3e0a97489a0_0_69"/>
          <p:cNvSpPr txBox="1"/>
          <p:nvPr/>
        </p:nvSpPr>
        <p:spPr>
          <a:xfrm>
            <a:off x="11548872" y="6492240"/>
            <a:ext cx="457200" cy="27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C8CCD6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13</a:t>
            </a:r>
            <a:endParaRPr sz="1200" b="0" i="0">
              <a:solidFill>
                <a:srgbClr val="C8CCD6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99" name="Google Shape;299;g3e0a97489a0_0_69"/>
          <p:cNvSpPr txBox="1"/>
          <p:nvPr/>
        </p:nvSpPr>
        <p:spPr>
          <a:xfrm>
            <a:off x="548640" y="320040"/>
            <a:ext cx="73152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>
                <a:solidFill>
                  <a:srgbClr val="E94F3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0</a:t>
            </a:r>
            <a:r>
              <a:rPr lang="en-US" sz="1300">
                <a:solidFill>
                  <a:srgbClr val="E94F3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6</a:t>
            </a:r>
            <a:r>
              <a:rPr lang="en-US" sz="1300" b="0" i="0">
                <a:solidFill>
                  <a:srgbClr val="E94F3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  | </a:t>
            </a:r>
            <a:r>
              <a:rPr lang="en-US" sz="1300">
                <a:solidFill>
                  <a:srgbClr val="E94F3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claude  + </a:t>
            </a:r>
            <a:r>
              <a:rPr lang="en-US" sz="1300">
                <a:solidFill>
                  <a:srgbClr val="E94F3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MCP + sqlite </a:t>
            </a:r>
            <a:r>
              <a:rPr lang="en-US" sz="1300">
                <a:solidFill>
                  <a:srgbClr val="E94F3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제어 시연</a:t>
            </a:r>
            <a:endParaRPr sz="1300" b="0" i="0">
              <a:solidFill>
                <a:srgbClr val="E94F37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300" name="Google Shape;300;g3e0a97489a0_0_69"/>
          <p:cNvSpPr txBox="1"/>
          <p:nvPr/>
        </p:nvSpPr>
        <p:spPr>
          <a:xfrm>
            <a:off x="663000" y="776975"/>
            <a:ext cx="10805100" cy="63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175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400"/>
              <a:buAutoNum type="arabicPeriod"/>
            </a:pPr>
            <a:r>
              <a:rPr lang="en-US" sz="1300">
                <a:solidFill>
                  <a:schemeClr val="lt1"/>
                </a:solidFill>
              </a:rPr>
              <a:t>AI 사 의 api 키 가 필요 </a:t>
            </a:r>
            <a:r>
              <a:rPr lang="en-US">
                <a:solidFill>
                  <a:schemeClr val="lt1"/>
                </a:solidFill>
              </a:rPr>
              <a:t> </a:t>
            </a:r>
            <a:r>
              <a:rPr lang="en-US" sz="1200">
                <a:solidFill>
                  <a:srgbClr val="C8CCD6"/>
                </a:solidFill>
              </a:rPr>
              <a:t>(예제: claude</a:t>
            </a:r>
            <a:r>
              <a:rPr lang="en-US" sz="1200">
                <a:solidFill>
                  <a:schemeClr val="tx2"/>
                </a:solidFill>
              </a:rPr>
              <a:t> </a:t>
            </a:r>
            <a:r>
              <a:rPr lang="en-US" sz="1200" u="sng">
                <a:solidFill>
                  <a:schemeClr val="tx2"/>
                </a:solidFill>
                <a:highlight>
                  <a:srgbClr val="C0C0C0"/>
                </a:highlight>
                <a:hlinkClick r:id="rId1"/>
              </a:rPr>
              <a:t>https://platform.claude.com/settings/billing</a:t>
            </a:r>
            <a:r>
              <a:rPr lang="en-US" sz="1200">
                <a:solidFill>
                  <a:schemeClr val="tx2"/>
                </a:solidFill>
                <a:highlight>
                  <a:srgbClr val="C0C0C0"/>
                </a:highlight>
              </a:rPr>
              <a:t> </a:t>
            </a:r>
            <a:r>
              <a:rPr lang="en-US" sz="1200">
                <a:solidFill>
                  <a:srgbClr val="C8CCD6"/>
                </a:solidFill>
              </a:rPr>
              <a:t>충전후 키 발급)</a:t>
            </a:r>
            <a:endParaRPr sz="1200">
              <a:solidFill>
                <a:srgbClr val="C8CCD6"/>
              </a:solidFill>
            </a:endParaRPr>
          </a:p>
          <a:p>
            <a:pPr marL="45720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AutoNum type="arabicPeriod"/>
            </a:pPr>
            <a:r>
              <a:rPr lang="en-US" sz="1300">
                <a:solidFill>
                  <a:schemeClr val="lt1"/>
                </a:solidFill>
              </a:rPr>
              <a:t>현 시연 python + pocket-kit 환경으로 구현</a:t>
            </a:r>
            <a:endParaRPr sz="1300">
              <a:solidFill>
                <a:schemeClr val="lt1"/>
              </a:solidFill>
            </a:endParaRPr>
          </a:p>
        </p:txBody>
      </p:sp>
      <p:pic>
        <p:nvPicPr>
          <p:cNvPr id="301" name="Google Shape;301;g3e0a97489a0_0_69"/>
          <p:cNvPicPr preferRelativeResize="0"/>
          <p:nvPr/>
        </p:nvPicPr>
        <p:blipFill>
          <a:blip r:embed="rId2"/>
          <a:stretch>
            <a:fillRect/>
          </a:stretch>
        </p:blipFill>
        <p:spPr>
          <a:xfrm>
            <a:off x="551963" y="1479625"/>
            <a:ext cx="8040074" cy="4608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2" name="Google Shape;302;g3e0a97489a0_0_69"/>
          <p:cNvPicPr preferRelativeResize="0"/>
          <p:nvPr/>
        </p:nvPicPr>
        <p:blipFill>
          <a:blip r:embed="rId3"/>
          <a:stretch>
            <a:fillRect/>
          </a:stretch>
        </p:blipFill>
        <p:spPr>
          <a:xfrm>
            <a:off x="2467575" y="2206575"/>
            <a:ext cx="9250177" cy="4511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1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E94F37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308" name="Google Shape;308;p10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E94F37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309" name="Google Shape;309;p10"/>
          <p:cNvSpPr txBox="1"/>
          <p:nvPr/>
        </p:nvSpPr>
        <p:spPr>
          <a:xfrm>
            <a:off x="986925" y="2638900"/>
            <a:ext cx="103326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>
                <a:solidFill>
                  <a:srgbClr val="FFD166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Thank You </a:t>
            </a:r>
            <a:r>
              <a:rPr lang="en-US" sz="2800" b="1">
                <a:solidFill>
                  <a:srgbClr val="FFD166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Very Much !</a:t>
            </a:r>
            <a:endParaRPr sz="2800" b="1" i="0">
              <a:solidFill>
                <a:srgbClr val="FFD166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3459</Words>
  <Application>WPS Presentation</Application>
  <PresentationFormat/>
  <Paragraphs>287</Paragraphs>
  <Slides>14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14</vt:i4>
      </vt:variant>
    </vt:vector>
  </HeadingPairs>
  <TitlesOfParts>
    <vt:vector size="24" baseType="lpstr">
      <vt:lpstr>Arial</vt:lpstr>
      <vt:lpstr>SimSun</vt:lpstr>
      <vt:lpstr>Wingdings</vt:lpstr>
      <vt:lpstr>Arial</vt:lpstr>
      <vt:lpstr>Calibri</vt:lpstr>
      <vt:lpstr>맑은 고딕</vt:lpstr>
      <vt:lpstr>Microsoft YaHei</vt:lpstr>
      <vt:lpstr>Arial Unicode MS</vt:lpstr>
      <vt:lpstr>바탕체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Jeff Bae</cp:lastModifiedBy>
  <cp:revision>1</cp:revision>
  <dcterms:created xsi:type="dcterms:W3CDTF">2026-05-12T02:03:05Z</dcterms:created>
  <dcterms:modified xsi:type="dcterms:W3CDTF">2026-05-12T02:03:05Z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F305F287606B4B27B2860FE61290C8EC_12</vt:lpwstr>
  </property>
  <property fmtid="{D5CDD505-2E9C-101B-9397-08002B2CF9AE}" pid="3" name="KSOProductBuildVer">
    <vt:lpwstr>1033-12.2.0.22549</vt:lpwstr>
  </property>
</Properties>
</file>